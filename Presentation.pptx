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ef46170f-05f3-2198-ebb9-680a9c5244f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Appendix" id="{a1d11ab2-0ef6-a90e-c393-fcc0477535a3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4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C2430"/>
                </a:solidFill>
                <a:latin typeface="+mn-lt"/>
              </a:rPr>
              <a:t>Cross-validated R²: seen vs unseen areas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Seen areas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Ridge</c:v>
                  </c:pt>
                  <c:pt idx="1">
                    <c:v>Random Forest</c:v>
                  </c:pt>
                  <c:pt idx="2">
                    <c:v>XGBoost</c:v>
                  </c:pt>
                  <c:pt idx="3">
                    <c:v>CatBoost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0.808</c:v>
                </c:pt>
                <c:pt idx="1">
                  <c:v>0.827</c:v>
                </c:pt>
                <c:pt idx="2">
                  <c:v>0.827</c:v>
                </c:pt>
                <c:pt idx="3">
                  <c:v>0.825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Unseen areas</c:v>
                </c:pt>
              </c:strCache>
            </c:strRef>
          </c:tx>
          <c:spPr>
            <a:solidFill>
              <a:srgbClr val="B4530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Ridge</c:v>
                  </c:pt>
                  <c:pt idx="1">
                    <c:v>Random Forest</c:v>
                  </c:pt>
                  <c:pt idx="2">
                    <c:v>XGBoost</c:v>
                  </c:pt>
                  <c:pt idx="3">
                    <c:v>CatBoost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0.541</c:v>
                </c:pt>
                <c:pt idx="1">
                  <c:v>0.688</c:v>
                </c:pt>
                <c:pt idx="2">
                  <c:v>0.665</c:v>
                </c:pt>
                <c:pt idx="3">
                  <c:v>0.703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C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300">
              <a:solidFill>
                <a:srgbClr val="1C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C24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C2430"/>
                </a:solidFill>
                <a:latin typeface="+mn-lt"/>
              </a:rPr>
              <a:t>What drives the model (SHAP, grouped)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SHAP impact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4E79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Pt>
            <c:idx val="2"/>
            <c:bubble3D val="0"/>
            <c:spPr>
              <a:solidFill>
                <a:srgbClr val="2A9D8F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Location</c:v>
                </c:pt>
                <c:pt idx="1">
                  <c:v>Land type</c:v>
                </c:pt>
                <c:pt idx="2">
                  <c:v>Land size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87.1</c:v>
                </c:pt>
                <c:pt idx="1">
                  <c:v>8.6</c:v>
                </c:pt>
                <c:pt idx="2">
                  <c:v>4.3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C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[0:25] This project predicts land prices in the Colombo district. Land is the biggest purchase most Sri Lankan families make, but there is no public, plot-level price guide - people judge prices from a few online ads, and similar plots are advertised at very different prices. So I built a model that estimates a fair asking price per perch from a plot's area, size and land type, and put it in a live web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[0:40] The data is 4,494 real land advertisements from the Colombo district, posted in 2021. I chose price per perch as the target, because it makes plots of different sizes comparable, and I dropped the advertised total price because it would leak the answer. Three listings were priced per acre and never converted, so I fixed them, and I removed duplicates. And because prices are extremely skewed, removing outliers directly would have thrown away 297 genuine expensive plots in central Colombo - so I log-transformed the price first, which left only 21 real outliers. That gave 4,275 clean listings.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[0:30] The exploratory analysis showed one thing very clearly: location sets the price. The median price per perch differs 84 times between the cheapest area, Kosgama, and the most expensive, Kurunduwatta in central Colombo. Distance from Colombo Fort has a correlation of minus 0.81 with price. And the location features are strongly correlated with each other - they mostly describe one thing: how central and built-up an area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[0:55] This table compares every model I trained. Random Forest and XGBoost were taught in the module, so together with a Ridge baseline they are my comparison models. My new algorithm is CatBoost, which was not covered in the lectures. I chose it because the area column has 160 categories, many of them rare, and CatBoost encodes categories without leaking the target. It reached an R-squared of 0.866, tied for best, and it generalised best to areas it had never seen. Tuning with five-fold cross-validation clearly helped: about 0.83 with default settings, 0.86 tuned. The final model is a stacking ensemble of Random Forest, XGBoost and CatBoost, chosen because it had the lowest cross-validated error. It reaches a median error of about 12 percent.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[0:40] The most important finding came from the data itself. All 27 location features have exactly one value per area - they were calculated from the area name, not from each plot. So 81 percent of price variation is between areas. When I tested the models on areas they had never seen, accuracy dropped - but that is where the tree models clearly beat the linear model: R-squared 0.70 against 0.54. Because of this, the app only offers areas the model knows.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[0:40] To explain the model I used SHAP and LIME on the final ensemble. SHAP shows that location drives 87 percent of the model's decisions, land type 9 and land size 4. For a single held-out plot in Dampe, the waterfall shows why it was priced low: it is 28 kilometres from Fort, Dampe is a low-priced area, and the nearest grade-A school is far away. LIME, which works in a completely different way, agreed on the same top three drivers, and CatBoost's own exact SHAP values show the same 87 percent location share.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[0:45] Here is the deployed application. [Switch to the browser.] I choose an area and a size. Battaramulla, about 11 kilometres from Fort, comes out at about 2.6 million rupees per perch, in the high band; Kaduwela, further out, at about 460,000, in the low band. Under each price, the app explains it: for Battaramulla, its location roughly doubles the price compared with a typical plot. Behind it is a GitHub repository with 15 automated tests, a retraining pipeline with a quality gate, and automatic redeployment. [Switch back to the slides.]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[0:15] To conclude: all tuned models perform almost the same, so the data - not the algorithm - limits the accuracy. The main limitations are asking prices rather than sale prices, 2021 data, and location recorded per area. Per-plot location data would improve the model most. Thank you - I am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- only for questions. Final model selected on cross-validated RMSE (lowest: stacking, 0.4265), not on the test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- only for questions. Every model chose strong regularisation, consistent with little signal within an area beyond size and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0584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Colombo Land Price Estimator  ·  IT5514 Applied Machine Learning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lombo-land-price-ml-5jekcfuzve5ezgfgjjpqoh.streamlit.app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Predicting Land Prices in the Colombo District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54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A fair asking price per perch from a plot's area, size and land type</a:t>
            </a:r>
            <a:endParaRPr lang="en-US" sz="2000" dirty="0"/>
          </a:p>
        </p:txBody>
      </p:sp>
      <p:sp>
        <p:nvSpPr>
          <p:cNvPr id="4" name="chip-0"/>
          <p:cNvSpPr/>
          <p:nvPr/>
        </p:nvSpPr>
        <p:spPr>
          <a:xfrm>
            <a:off x="731520" y="4343400"/>
            <a:ext cx="228600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343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4,494 real listings</a:t>
            </a:r>
            <a:endParaRPr lang="en-US" sz="1500" dirty="0"/>
          </a:p>
        </p:txBody>
      </p:sp>
      <p:sp>
        <p:nvSpPr>
          <p:cNvPr id="6" name="chip-1"/>
          <p:cNvSpPr/>
          <p:nvPr/>
        </p:nvSpPr>
        <p:spPr>
          <a:xfrm>
            <a:off x="3246120" y="4343400"/>
            <a:ext cx="228600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4343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160 areas</a:t>
            </a:r>
            <a:endParaRPr lang="en-US" sz="1500" dirty="0"/>
          </a:p>
        </p:txBody>
      </p:sp>
      <p:sp>
        <p:nvSpPr>
          <p:cNvPr id="8" name="chip-2"/>
          <p:cNvSpPr/>
          <p:nvPr/>
        </p:nvSpPr>
        <p:spPr>
          <a:xfrm>
            <a:off x="5760720" y="4343400"/>
            <a:ext cx="2286000" cy="502920"/>
          </a:xfrm>
          <a:prstGeom prst="roundRect">
            <a:avLst>
              <a:gd name="adj" fmla="val 4909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60720" y="4343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Live web app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Amal Ranawaka  ·  IT5514 Applied Machine Learning  ·  Final assignment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 and preparation: 4,494 listings to 4,275</a:t>
            </a:r>
            <a:endParaRPr lang="en-US" sz="3200" dirty="0"/>
          </a:p>
        </p:txBody>
      </p:sp>
      <p:sp>
        <p:nvSpPr>
          <p:cNvPr id="3" name="dot-1"/>
          <p:cNvSpPr/>
          <p:nvPr/>
        </p:nvSpPr>
        <p:spPr>
          <a:xfrm>
            <a:off x="548640" y="1463040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41732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Target: price per perch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1965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Comparable across plot sizes; advertised total price dropped (leakage)</a:t>
            </a:r>
            <a:endParaRPr lang="en-US" sz="1400" dirty="0"/>
          </a:p>
        </p:txBody>
      </p:sp>
      <p:sp>
        <p:nvSpPr>
          <p:cNvPr id="7" name="dot-2"/>
          <p:cNvSpPr/>
          <p:nvPr/>
        </p:nvSpPr>
        <p:spPr>
          <a:xfrm>
            <a:off x="548640" y="2487168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44144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Fixed a unit error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8437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3 listings priced per acre were never converted (divided by 160)</a:t>
            </a:r>
            <a:endParaRPr lang="en-US" sz="1400" dirty="0"/>
          </a:p>
        </p:txBody>
      </p:sp>
      <p:sp>
        <p:nvSpPr>
          <p:cNvPr id="11" name="dot-3"/>
          <p:cNvSpPr/>
          <p:nvPr/>
        </p:nvSpPr>
        <p:spPr>
          <a:xfrm>
            <a:off x="548640" y="3511296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46557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Removed 198 duplicates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8679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Before splitting, so no listing is in both train and test</a:t>
            </a:r>
            <a:endParaRPr lang="en-US" sz="1400" dirty="0"/>
          </a:p>
        </p:txBody>
      </p:sp>
      <p:sp>
        <p:nvSpPr>
          <p:cNvPr id="15" name="dot-4"/>
          <p:cNvSpPr/>
          <p:nvPr/>
        </p:nvSpPr>
        <p:spPr>
          <a:xfrm>
            <a:off x="548640" y="4535424"/>
            <a:ext cx="384048" cy="38404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48970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Log transform, then outliers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8920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Removed 21 true outliers instead of 297 genuine expensive plots</a:t>
            </a:r>
            <a:endParaRPr lang="en-US" sz="1400" dirty="0"/>
          </a:p>
        </p:txBody>
      </p:sp>
      <p:sp>
        <p:nvSpPr>
          <p:cNvPr id="19" name="chart-card"/>
          <p:cNvSpPr/>
          <p:nvPr/>
        </p:nvSpPr>
        <p:spPr>
          <a:xfrm>
            <a:off x="5943600" y="1417320"/>
            <a:ext cx="5715000" cy="2788920"/>
          </a:xfrm>
          <a:prstGeom prst="roundRect">
            <a:avLst>
              <a:gd name="adj" fmla="val 39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0" name="Image 0" descr="Price per perch before and after log transfor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783080"/>
            <a:ext cx="5440680" cy="1783245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080760" y="370332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Price per perch: skew 7.19 before, 0.22 after the log transform</a:t>
            </a:r>
            <a:endParaRPr lang="en-US" sz="1200" dirty="0"/>
          </a:p>
        </p:txBody>
      </p:sp>
      <p:sp>
        <p:nvSpPr>
          <p:cNvPr id="22" name="source-card"/>
          <p:cNvSpPr/>
          <p:nvPr/>
        </p:nvSpPr>
        <p:spPr>
          <a:xfrm>
            <a:off x="5943600" y="4434840"/>
            <a:ext cx="5715000" cy="1600200"/>
          </a:xfrm>
          <a:prstGeom prst="roundRect">
            <a:avLst>
              <a:gd name="adj" fmla="val 6857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172200" y="4572000"/>
            <a:ext cx="5303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Source: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Land prices of Colombo district (Kaggle), online ads posted Jul-Sep 2021, with 27 distance/count features per listing (Fort, schools, hospitals, banks, rail, expressway).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the data says: location sets the price</a:t>
            </a:r>
            <a:endParaRPr lang="en-US" sz="3200" dirty="0"/>
          </a:p>
        </p:txBody>
      </p:sp>
      <p:pic>
        <p:nvPicPr>
          <p:cNvPr id="3" name="Image 0" descr="Median price per perch in the cheapest and most expensive are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721846" cy="4846320"/>
          </a:xfrm>
          <a:prstGeom prst="rect">
            <a:avLst/>
          </a:prstGeom>
        </p:spPr>
      </p:pic>
      <p:sp>
        <p:nvSpPr>
          <p:cNvPr id="4" name="gap-value"/>
          <p:cNvSpPr txBox="1"/>
          <p:nvPr/>
        </p:nvSpPr>
        <p:spPr>
          <a:xfrm>
            <a:off x="7726680" y="14173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84×</a:t>
            </a:r>
            <a:endParaRPr lang="en-US" sz="4400" dirty="0"/>
          </a:p>
        </p:txBody>
      </p:sp>
      <p:sp>
        <p:nvSpPr>
          <p:cNvPr id="5" name="gap-label"/>
          <p:cNvSpPr txBox="1"/>
          <p:nvPr/>
        </p:nvSpPr>
        <p:spPr>
          <a:xfrm>
            <a:off x="77266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price gap between the cheapest and most expensive areas</a:t>
            </a:r>
            <a:endParaRPr lang="en-US" sz="1400" dirty="0"/>
          </a:p>
        </p:txBody>
      </p:sp>
      <p:sp>
        <p:nvSpPr>
          <p:cNvPr id="6" name="fort-value"/>
          <p:cNvSpPr txBox="1"/>
          <p:nvPr/>
        </p:nvSpPr>
        <p:spPr>
          <a:xfrm>
            <a:off x="7726680" y="29718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−0.81</a:t>
            </a:r>
            <a:endParaRPr lang="en-US" sz="4400" dirty="0"/>
          </a:p>
        </p:txBody>
      </p:sp>
      <p:sp>
        <p:nvSpPr>
          <p:cNvPr id="7" name="fort-label"/>
          <p:cNvSpPr txBox="1"/>
          <p:nvPr/>
        </p:nvSpPr>
        <p:spPr>
          <a:xfrm>
            <a:off x="7726680" y="3749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distance from Colombo Fort vs price (strongest link)</a:t>
            </a:r>
            <a:endParaRPr lang="en-US" sz="1400" dirty="0"/>
          </a:p>
        </p:txBody>
      </p:sp>
      <p:sp>
        <p:nvSpPr>
          <p:cNvPr id="8" name="overlap-value"/>
          <p:cNvSpPr txBox="1"/>
          <p:nvPr/>
        </p:nvSpPr>
        <p:spPr>
          <a:xfrm>
            <a:off x="7726680" y="45262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of 45</a:t>
            </a:r>
            <a:endParaRPr lang="en-US" sz="4400" dirty="0"/>
          </a:p>
        </p:txBody>
      </p:sp>
      <p:sp>
        <p:nvSpPr>
          <p:cNvPr id="9" name="overlap-label"/>
          <p:cNvSpPr txBox="1"/>
          <p:nvPr/>
        </p:nvSpPr>
        <p:spPr>
          <a:xfrm>
            <a:off x="7726680" y="53035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location-feature pairs strongly correlated (|ρ| &gt; 0.7)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Model accuracy: CatBoost (new) and the final stack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74066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554480"/>
                <a:gridCol w="128016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CV RMSE (log) 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Test R² ↑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Median error ↓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</a:rPr>
                        <a:t>Stacking (RF + XGB + Cat)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</a:rPr>
                        <a:t>0.4265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</a:rPr>
                        <a:t>0.866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45309"/>
                          </a:solidFill>
                        </a:rPr>
                        <a:t>11.8%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</a:rPr>
                        <a:t>LightGBM (tuned)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</a:rPr>
                        <a:t>0.4274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</a:rPr>
                        <a:t>0.862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</a:rPr>
                        <a:t>13.5%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</a:rPr>
                        <a:t>XGBoost (tuned)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</a:rPr>
                        <a:t>0.4282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</a:rPr>
                        <a:t>0.862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</a:rPr>
                        <a:t>12.2%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</a:rPr>
                        <a:t>Random Forest (tuned)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</a:rPr>
                        <a:t>0.4289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</a:rPr>
                        <a:t>0.861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</a:rPr>
                        <a:t>11.5%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</a:rPr>
                        <a:t>CatBoost (tuned) ★ new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</a:rPr>
                        <a:t>0.4311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</a:rPr>
                        <a:t>0.866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C2430"/>
                          </a:solidFill>
                        </a:rPr>
                        <a:t>12.3%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B6675"/>
                          </a:solidFill>
                        </a:rPr>
                        <a:t>Random Forest (default)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5B6675"/>
                          </a:solidFill>
                        </a:rPr>
                        <a:t>0.4450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5B6675"/>
                          </a:solidFill>
                        </a:rPr>
                        <a:t>0.834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5B6675"/>
                          </a:solidFill>
                        </a:rPr>
                        <a:t>10.3%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B6675"/>
                          </a:solidFill>
                        </a:rPr>
                        <a:t>XGBoost (default)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5B6675"/>
                          </a:solidFill>
                        </a:rPr>
                        <a:t>0.4490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5B6675"/>
                          </a:solidFill>
                        </a:rPr>
                        <a:t>0.830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5B6675"/>
                          </a:solidFill>
                        </a:rPr>
                        <a:t>11.0%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5B6675"/>
                          </a:solidFill>
                        </a:rPr>
                        <a:t>Ridge (baseline)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5B6675"/>
                          </a:solidFill>
                        </a:rPr>
                        <a:t>0.4509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5B6675"/>
                          </a:solidFill>
                        </a:rPr>
                        <a:t>0.836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5B6675"/>
                          </a:solidFill>
                        </a:rPr>
                        <a:t>16.5%</a:t>
                      </a:r>
                      <a:endParaRPr lang="en-US" sz="15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8640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Ranked by cross-validated error (training data only). Tuning lifted R² from about 0.83 (defaults) to 0.86. Band classifier: 90.5% accuracy.</a:t>
            </a:r>
            <a:endParaRPr lang="en-US" sz="1200" dirty="0"/>
          </a:p>
        </p:txBody>
      </p:sp>
      <p:sp>
        <p:nvSpPr>
          <p:cNvPr id="5" name="why-card"/>
          <p:cNvSpPr/>
          <p:nvPr/>
        </p:nvSpPr>
        <p:spPr>
          <a:xfrm>
            <a:off x="8275320" y="1280160"/>
            <a:ext cx="3383280" cy="4754880"/>
          </a:xfrm>
          <a:prstGeom prst="roundRect">
            <a:avLst>
              <a:gd name="adj" fmla="val 324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1417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New algorithm: CatBoost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187452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 taught in lectures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Handles the 160 area categories natively, without target leakage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R² 0.866 (tied best); best on unseen areas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840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model: stacking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4297680"/>
            <a:ext cx="3017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Lowest cross-validated error (0.4265); chosen on CV, not the test set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Combines RF + XGBoost + CatBoost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finding: location explains almost everything</a:t>
            </a:r>
            <a:endParaRPr lang="en-US" sz="3200" dirty="0"/>
          </a:p>
        </p:txBody>
      </p:sp>
      <p:sp>
        <p:nvSpPr>
          <p:cNvPr id="3" name="finding-card"/>
          <p:cNvSpPr/>
          <p:nvPr/>
        </p:nvSpPr>
        <p:spPr>
          <a:xfrm>
            <a:off x="548640" y="1325880"/>
            <a:ext cx="4206240" cy="4754880"/>
          </a:xfrm>
          <a:prstGeom prst="roundRect">
            <a:avLst>
              <a:gd name="adj" fmla="val 260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of price variation is between areas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All 27 location features have one value per area: they were calculated from the area name, not the plot.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 areas never seen in training, tree models clearly beat the linear model.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So the app only offers areas the model knows.</a:t>
            </a:r>
            <a:endParaRPr lang="en-US" sz="15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120640" y="1280160"/>
          <a:ext cx="658368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Explainability: SHAP and LIME agree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42062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4" name="Image 0" descr="SHAP waterfall for the held-out Dampe list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280160"/>
            <a:ext cx="5943600" cy="3889791"/>
          </a:xfrm>
          <a:prstGeom prst="rect">
            <a:avLst/>
          </a:prstGeom>
        </p:spPr>
      </p:pic>
      <p:sp>
        <p:nvSpPr>
          <p:cNvPr id="5" name="lime-card"/>
          <p:cNvSpPr/>
          <p:nvPr/>
        </p:nvSpPr>
        <p:spPr>
          <a:xfrm>
            <a:off x="548640" y="5440680"/>
            <a:ext cx="1110996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77240" y="5468112"/>
            <a:ext cx="10698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Held-out Dampe plot: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28 km from Fort, a low-priced area and far from a grade-A school pull the price down.  </a:t>
            </a:r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LIME agrees on the same top 3 drivers.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Live demo: the deployed app</a:t>
            </a:r>
            <a:endParaRPr lang="en-US" sz="3200" dirty="0"/>
          </a:p>
        </p:txBody>
      </p:sp>
      <p:pic>
        <p:nvPicPr>
          <p:cNvPr id="3" name="Image 0" descr="Screenshot of the live Colombo Land Price Estimator ap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6583680" cy="329678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622665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Backup screenshot if the internet is unavailable</a:t>
            </a:r>
            <a:endParaRPr lang="en-US" sz="1100" dirty="0"/>
          </a:p>
        </p:txBody>
      </p:sp>
      <p:pic>
        <p:nvPicPr>
          <p:cNvPr id="5" name="Image 1" descr="QR code linking to the live app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280160"/>
            <a:ext cx="1508760" cy="15087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9464040" y="1325880"/>
            <a:ext cx="2240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Try it: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scan the QR code or open the link below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7818120" y="28803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chemeClr val="tx2"/>
                </a:solidFill>
                <a:hlinkClick r:id="rId3" invalidUrl="" action="" tgtFrame="" tooltip="https://colombo-land-price-ml-5jekcfuzve5ezgfgjjpqoh.streamlit.app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colombo-land-price-ml-…streamlit.app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7818120" y="3383280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Battaramulla:  ≈ Rs 2.58M per perch · High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Kaduwela:  ≈ Rs 460k per perch · Low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accent2"/>
                </a:solidFill>
              </a:rPr>
              <a:t>Every price is explained: "Why this price?" (SHAP)</a:t>
            </a:r>
            <a:endParaRPr lang="en-US" sz="1400" dirty="0"/>
          </a:p>
        </p:txBody>
      </p:sp>
      <p:sp>
        <p:nvSpPr>
          <p:cNvPr id="9" name="mlops-0"/>
          <p:cNvSpPr/>
          <p:nvPr/>
        </p:nvSpPr>
        <p:spPr>
          <a:xfrm>
            <a:off x="548640" y="5440680"/>
            <a:ext cx="26517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548640" y="5440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Private GitHub repo</a:t>
            </a:r>
            <a:endParaRPr lang="en-US" sz="1500" dirty="0"/>
          </a:p>
        </p:txBody>
      </p:sp>
      <p:sp>
        <p:nvSpPr>
          <p:cNvPr id="11" name="mlops-1"/>
          <p:cNvSpPr/>
          <p:nvPr/>
        </p:nvSpPr>
        <p:spPr>
          <a:xfrm>
            <a:off x="3364992" y="5440680"/>
            <a:ext cx="26517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3364992" y="5440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CI: 15 tests passing</a:t>
            </a:r>
            <a:endParaRPr lang="en-US" sz="1500" dirty="0"/>
          </a:p>
        </p:txBody>
      </p:sp>
      <p:sp>
        <p:nvSpPr>
          <p:cNvPr id="13" name="mlops-2"/>
          <p:cNvSpPr/>
          <p:nvPr/>
        </p:nvSpPr>
        <p:spPr>
          <a:xfrm>
            <a:off x="6181344" y="5440680"/>
            <a:ext cx="26517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6181344" y="5440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Retraining + quality gate</a:t>
            </a:r>
            <a:endParaRPr lang="en-US" sz="1500" dirty="0"/>
          </a:p>
        </p:txBody>
      </p:sp>
      <p:sp>
        <p:nvSpPr>
          <p:cNvPr id="15" name="mlops-3"/>
          <p:cNvSpPr/>
          <p:nvPr/>
        </p:nvSpPr>
        <p:spPr>
          <a:xfrm>
            <a:off x="8997696" y="5440680"/>
            <a:ext cx="265176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997696" y="5440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Auto-deploy on push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54864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MLOps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concl-0"/>
          <p:cNvSpPr/>
          <p:nvPr/>
        </p:nvSpPr>
        <p:spPr>
          <a:xfrm>
            <a:off x="731520" y="1691640"/>
            <a:ext cx="3383280" cy="2057400"/>
          </a:xfrm>
          <a:prstGeom prst="roundRect">
            <a:avLst>
              <a:gd name="adj" fmla="val 5333"/>
            </a:avLst>
          </a:prstGeom>
          <a:solidFill>
            <a:srgbClr val="FFFFFF">
              <a:alpha val="12000"/>
            </a:srgb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05840" y="1920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What we learned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246888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The data, not the algorithm, limits accuracy: all tuned models perform almost the same.</a:t>
            </a:r>
            <a:endParaRPr lang="en-US" sz="1600" dirty="0"/>
          </a:p>
        </p:txBody>
      </p:sp>
      <p:sp>
        <p:nvSpPr>
          <p:cNvPr id="6" name="concl-1"/>
          <p:cNvSpPr/>
          <p:nvPr/>
        </p:nvSpPr>
        <p:spPr>
          <a:xfrm>
            <a:off x="4389120" y="1691640"/>
            <a:ext cx="3383280" cy="2057400"/>
          </a:xfrm>
          <a:prstGeom prst="roundRect">
            <a:avLst>
              <a:gd name="adj" fmla="val 5333"/>
            </a:avLst>
          </a:prstGeom>
          <a:solidFill>
            <a:srgbClr val="FFFFFF">
              <a:alpha val="12000"/>
            </a:srgb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63440" y="1920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46888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Asking prices, not sale prices; 2021 data; location recorded per area, not per plot.</a:t>
            </a:r>
            <a:endParaRPr lang="en-US" sz="1600" dirty="0"/>
          </a:p>
        </p:txBody>
      </p:sp>
      <p:sp>
        <p:nvSpPr>
          <p:cNvPr id="9" name="concl-2"/>
          <p:cNvSpPr/>
          <p:nvPr/>
        </p:nvSpPr>
        <p:spPr>
          <a:xfrm>
            <a:off x="8046720" y="1691640"/>
            <a:ext cx="3383280" cy="2057400"/>
          </a:xfrm>
          <a:prstGeom prst="roundRect">
            <a:avLst>
              <a:gd name="adj" fmla="val 5333"/>
            </a:avLst>
          </a:prstGeom>
          <a:solidFill>
            <a:srgbClr val="FFFFFF">
              <a:alpha val="12000"/>
            </a:srgb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920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Next step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46888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Per-plot location data and recent prices would improve the model more than any tuning.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3434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Questions?</a:t>
            </a:r>
            <a:endParaRPr lang="en-US" sz="3000" dirty="0"/>
          </a:p>
        </p:txBody>
      </p:sp>
      <p:sp>
        <p:nvSpPr>
          <p:cNvPr id="14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15" name="Text 0"/>
          <p:cNvSpPr/>
          <p:nvPr>
            <p:ph idx="101" type="body" hasCustomPrompt="1"/>
          </p:nvPr>
        </p:nvSpPr>
        <p:spPr>
          <a:xfrm>
            <a:off x="731520" y="3154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Appendix: full model comparison (test set, 855 listings)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4480"/>
                <a:gridCol w="1554480"/>
                <a:gridCol w="1463040"/>
                <a:gridCol w="173736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CV RMSE (log)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 RMSE (log)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 R² (log)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MAE (Rs/perch)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Median error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Stacking (RF + XGB + Cat)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0.4265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0.3677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0.866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554,620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11.8%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LightGBM (tuned)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0.4274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0.3726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0.862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567,464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13.5%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XGBoost (tuned)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0.4282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0.3729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0.862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561,203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12.2%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Random Forest (tuned)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0.4289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0.3742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0.861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552,220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11.5%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CatBoost (tuned)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0.4311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0.3677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0.866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565,099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12.3%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Random Forest (default)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0.4450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0.4092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0.834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537,807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10.3%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XGBoost (default)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0.4490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0.4138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0.830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594,944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11.0%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Ridge (baseline)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0.4509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0.4063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0.836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594,270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16.5%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Appendix: tuned hyperparameters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846320"/>
                <a:gridCol w="438912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Selected values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Random Forest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271 trees, max_depth 20, min_samples_leaf 3, max_features 0.3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Limit memorising noisy asking prices; fewer features per split because of multicollinearity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XGBoost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1,066 trees, learning_rate 0.013, max_depth 5, subsample 0.79, colsample 0.78, reg_lambda 4.0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Small steps, shallow trees, sampling and regularisation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LightGBM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820 trees, learning_rate 0.013, num_leaves 15, min_child_samples 11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Very small trees chosen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CatBoost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800 iterations, depth 8, learning_rate 0.03, l2_leaf_reg 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C2430"/>
                          </a:solidFill>
                        </a:rPr>
                        <a:t>Native handling of the 160-area category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All tuned with RandomizedSearchCV and 5-fold cross-validation; tuning lowered CV RMSE from about 0.445 to 0.429.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lombo Land">
  <a:themeElements>
    <a:clrScheme name="Colombo Land">
      <a:dk1>
        <a:srgbClr val="1C2430"/>
      </a:dk1>
      <a:lt1>
        <a:srgbClr val="FFFFFF"/>
      </a:lt1>
      <a:dk2>
        <a:srgbClr val="1F4E79"/>
      </a:dk2>
      <a:lt2>
        <a:srgbClr val="EEF2F6"/>
      </a:lt2>
      <a:accent1>
        <a:srgbClr val="1F4E79"/>
      </a:accent1>
      <a:accent2>
        <a:srgbClr val="B45309"/>
      </a:accent2>
      <a:accent3>
        <a:srgbClr val="2A9D8F"/>
      </a:accent3>
      <a:accent4>
        <a:srgbClr val="6B7A8F"/>
      </a:accent4>
      <a:accent5>
        <a:srgbClr val="D9E3EE"/>
      </a:accent5>
      <a:accent6>
        <a:srgbClr val="FBEFE3"/>
      </a:accent6>
      <a:hlink>
        <a:srgbClr val="1F4E79"/>
      </a:hlink>
      <a:folHlink>
        <a:srgbClr val="6B7A8F"/>
      </a:folHlink>
    </a:clrScheme>
    <a:fontScheme name="Colombo Lan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Land Prices in the Colombo District</dc:title>
  <dc:subject>PptxGenJS Presentation</dc:subject>
  <dc:creator>Amal Ranawaka</dc:creator>
  <cp:lastModifiedBy>Amal Ranawaka</cp:lastModifiedBy>
  <cp:revision>1</cp:revision>
  <dcterms:created xsi:type="dcterms:W3CDTF">2026-10-25T06:58:48Z</dcterms:created>
  <dcterms:modified xsi:type="dcterms:W3CDTF">2026-10-25T06:58:48Z</dcterms:modified>
</cp:coreProperties>
</file>