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7ccc21e6-e0ec-8f38-8191-e0095dd1da7d}">
          <p14:sldIdLst>
            <p14:sldId id="256"/>
            <p14:sldId id="257"/>
            <p14:sldId id="258"/>
            <p14:sldId id="259"/>
            <p14:sldId id="260"/>
            <p14:sldId id="261"/>
            <p14:sldId id="262"/>
            <p14:sldId id="263"/>
          </p14:sldIdLst>
        </p14:section>
        <p14:section name="Appendix" id="{6154ce8b-ce1f-0012-6ab7-6099dce4b4a4}">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430"/>
                </a:solidFill>
                <a:latin typeface="+mn-lt"/>
              </a:defRPr>
            </a:pPr>
            <a:r>
              <a:rPr sz="1300" b="0" i="0" u="none" strike="noStrike">
                <a:solidFill>
                  <a:srgbClr val="1C2430"/>
                </a:solidFill>
                <a:latin typeface="+mn-lt"/>
              </a:rPr>
              <a:t>Cross-validated R²: seen vs unseen areas</a:t>
            </a:r>
          </a:p>
        </c:rich>
      </c:tx>
      <c:layout/>
      <c:overlay val="0"/>
    </c:title>
    <c:autoTitleDeleted val="0"/>
    <c:plotArea>
      <c:layout/>
      <c:barChart>
        <c:barDir val="col"/>
        <c:grouping val="clustered"/>
        <c:varyColors val="0"/>
        <c:ser>
          <c:idx val="0"/>
          <c:order val="0"/>
          <c:tx>
            <c:strRef>
              <c:f>Sheet1!$B$1</c:f>
              <c:strCache>
                <c:ptCount val="1"/>
                <c:pt idx="0">
                  <c:v>Seen areas</c:v>
                </c:pt>
              </c:strCache>
            </c:strRef>
          </c:tx>
          <c:spPr>
            <a:solidFill>
              <a:srgbClr val="1F4E79"/>
            </a:solidFill>
            <a:effectLst/>
          </c:spPr>
          <c:invertIfNegative val="0"/>
          <c:dLbls>
            <c:numFmt formatCode="0.00" sourceLinked="0"/>
            <c:txPr>
              <a:bodyPr/>
              <a:lstStyle/>
              <a:p>
                <a:pPr>
                  <a:defRPr b="0" i="0" strike="noStrike" sz="1200" u="none">
                    <a:solidFill>
                      <a:srgbClr val="1C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Ridge</c:v>
                  </c:pt>
                  <c:pt idx="1">
                    <c:v>Random Forest</c:v>
                  </c:pt>
                  <c:pt idx="2">
                    <c:v>XGBoost</c:v>
                  </c:pt>
                  <c:pt idx="3">
                    <c:v>CatBoost</c:v>
                  </c:pt>
                </c:lvl>
              </c:multiLvlStrCache>
            </c:multiLvlStrRef>
          </c:cat>
          <c:val>
            <c:numRef>
              <c:f>Sheet1!$B$2:$B$5</c:f>
              <c:numCache>
                <c:formatCode>General</c:formatCode>
                <c:ptCount val="4"/>
                <c:pt idx="0">
                  <c:v>0.808</c:v>
                </c:pt>
                <c:pt idx="1">
                  <c:v>0.827</c:v>
                </c:pt>
                <c:pt idx="2">
                  <c:v>0.827</c:v>
                </c:pt>
                <c:pt idx="3">
                  <c:v>0.825</c:v>
                </c:pt>
              </c:numCache>
            </c:numRef>
          </c:val>
        </c:ser>
        <c:ser>
          <c:idx val="1"/>
          <c:order val="1"/>
          <c:tx>
            <c:strRef>
              <c:f>Sheet1!$C$1</c:f>
              <c:strCache>
                <c:ptCount val="1"/>
                <c:pt idx="0">
                  <c:v>Unseen areas</c:v>
                </c:pt>
              </c:strCache>
            </c:strRef>
          </c:tx>
          <c:spPr>
            <a:solidFill>
              <a:srgbClr val="B45309"/>
            </a:solidFill>
            <a:effectLst/>
          </c:spPr>
          <c:invertIfNegative val="0"/>
          <c:dLbls>
            <c:numFmt formatCode="0.00" sourceLinked="0"/>
            <c:txPr>
              <a:bodyPr/>
              <a:lstStyle/>
              <a:p>
                <a:pPr>
                  <a:defRPr b="0" i="0" strike="noStrike" sz="1200" u="none">
                    <a:solidFill>
                      <a:srgbClr val="1C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Ridge</c:v>
                  </c:pt>
                  <c:pt idx="1">
                    <c:v>Random Forest</c:v>
                  </c:pt>
                  <c:pt idx="2">
                    <c:v>XGBoost</c:v>
                  </c:pt>
                  <c:pt idx="3">
                    <c:v>CatBoost</c:v>
                  </c:pt>
                </c:lvl>
              </c:multiLvlStrCache>
            </c:multiLvlStrRef>
          </c:cat>
          <c:val>
            <c:numRef>
              <c:f>Sheet1!$C$2:$C$5</c:f>
              <c:numCache>
                <c:formatCode>General</c:formatCode>
                <c:ptCount val="4"/>
                <c:pt idx="0">
                  <c:v>0.541</c:v>
                </c:pt>
                <c:pt idx="1">
                  <c:v>0.688</c:v>
                </c:pt>
                <c:pt idx="2">
                  <c:v>0.665</c:v>
                </c:pt>
                <c:pt idx="3">
                  <c:v>0.703</c:v>
                </c:pt>
              </c:numCache>
            </c:numRef>
          </c:val>
        </c:ser>
        <c:dLbls>
          <c:numFmt formatCode="0.00" sourceLinked="0"/>
          <c:txPr>
            <a:bodyPr/>
            <a:lstStyle/>
            <a:p>
              <a:pPr>
                <a:defRPr b="0" i="0" strike="noStrike" sz="1200" u="none">
                  <a:solidFill>
                    <a:srgbClr val="1C24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675"/>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1C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430"/>
                </a:solidFill>
                <a:latin typeface="+mn-lt"/>
              </a:defRPr>
            </a:pPr>
            <a:r>
              <a:rPr sz="1300" b="0" i="0" u="none" strike="noStrike">
                <a:solidFill>
                  <a:srgbClr val="1C2430"/>
                </a:solidFill>
                <a:latin typeface="+mn-lt"/>
              </a:rPr>
              <a:t>What drives the model (SHAP, grouped)</a:t>
            </a:r>
          </a:p>
        </c:rich>
      </c:tx>
      <c:layout/>
      <c:overlay val="0"/>
    </c:title>
    <c:autoTitleDeleted val="0"/>
    <c:plotArea>
      <c:layout/>
      <c:doughnutChart>
        <c:varyColors val="1"/>
        <c:ser>
          <c:idx val="0"/>
          <c:order val="0"/>
          <c:tx>
            <c:strRef>
              <c:f>Sheet1!$B$1</c:f>
              <c:strCache>
                <c:ptCount val="1"/>
                <c:pt idx="0">
                  <c:v>Share of SHAP impact</c:v>
                </c:pt>
              </c:strCache>
            </c:strRef>
          </c:tx>
          <c:spPr>
            <a:solidFill>
              <a:schemeClr val="accent1"/>
            </a:solidFill>
            <a:ln w="9525" cap="flat">
              <a:solidFill>
                <a:srgbClr val="F9F9F9"/>
              </a:solidFill>
              <a:prstDash val="solid"/>
              <a:round/>
            </a:ln>
            <a:effectLst/>
          </c:spPr>
          <c:dPt>
            <c:idx val="0"/>
            <c:bubble3D val="0"/>
            <c:spPr>
              <a:solidFill>
                <a:srgbClr val="1F4E79"/>
              </a:solidFill>
              <a:effectLst/>
            </c:spPr>
          </c:dPt>
          <c:dPt>
            <c:idx val="1"/>
            <c:bubble3D val="0"/>
            <c:spPr>
              <a:solidFill>
                <a:srgbClr val="B45309"/>
              </a:solidFill>
              <a:effectLst/>
            </c:spPr>
          </c:dPt>
          <c:dPt>
            <c:idx val="2"/>
            <c:bubble3D val="0"/>
            <c:spPr>
              <a:solidFill>
                <a:srgbClr val="2A9D8F"/>
              </a:solidFill>
              <a:effectLst/>
            </c:spPr>
          </c:dPt>
          <c:dLbls>
            <c:dLbl>
              <c:idx val="0"/>
              <c:numFmt formatCode="0&quot;%&quot;" sourceLinked="0"/>
              <c:spPr/>
              <c:txPr>
                <a:bodyPr/>
                <a:lstStyle/>
                <a:p>
                  <a:pPr>
                    <a:defRPr sz="1300" b="0" i="0" u="none" strike="noStrike">
                      <a:solidFill>
                        <a:srgbClr val="FFFFFF"/>
                      </a:solidFill>
                      <a:latin typeface="+mn-lt"/>
                    </a:defRPr>
                  </a:pPr>
                </a:p>
              </c:txPr>
              <c:showLegendKey val="0"/>
              <c:showVal val="1"/>
              <c:showCatName val="0"/>
              <c:showSerName val="0"/>
              <c:showPercent val="0"/>
              <c:showBubbleSize val="0"/>
            </c:dLbl>
            <c:dLbl>
              <c:idx val="1"/>
              <c:numFmt formatCode="0&quot;%&quot;" sourceLinked="0"/>
              <c:spPr/>
              <c:txPr>
                <a:bodyPr/>
                <a:lstStyle/>
                <a:p>
                  <a:pPr>
                    <a:defRPr sz="1300" b="0" i="0" u="none" strike="noStrike">
                      <a:solidFill>
                        <a:srgbClr val="FFFFFF"/>
                      </a:solidFill>
                      <a:latin typeface="+mn-lt"/>
                    </a:defRPr>
                  </a:pPr>
                </a:p>
              </c:txPr>
              <c:showLegendKey val="0"/>
              <c:showVal val="1"/>
              <c:showCatName val="0"/>
              <c:showSerName val="0"/>
              <c:showPercent val="0"/>
              <c:showBubbleSize val="0"/>
            </c:dLbl>
            <c:dLbl>
              <c:idx val="2"/>
              <c:numFmt formatCode="0&quot;%&quot;" sourceLinked="0"/>
              <c:spPr/>
              <c:txPr>
                <a:bodyPr/>
                <a:lstStyle/>
                <a:p>
                  <a:pPr>
                    <a:defRPr sz="1300" b="0" i="0" u="none" strike="noStrike">
                      <a:solidFill>
                        <a:srgbClr val="FFFFFF"/>
                      </a:solidFill>
                      <a:latin typeface="+mn-lt"/>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Location</c:v>
                </c:pt>
                <c:pt idx="1">
                  <c:v>Land type</c:v>
                </c:pt>
                <c:pt idx="2">
                  <c:v>Land size</c:v>
                </c:pt>
              </c:strCache>
            </c:strRef>
          </c:cat>
          <c:val>
            <c:numRef>
              <c:f>Sheet1!$B$2:$B$4</c:f>
              <c:numCache>
                <c:ptCount val="3"/>
                <c:pt idx="0">
                  <c:v>87.1</c:v>
                </c:pt>
                <c:pt idx="1">
                  <c:v>8.6</c:v>
                </c:pt>
                <c:pt idx="2">
                  <c:v>4.3</c:v>
                </c:pt>
              </c:numCache>
            </c:numRef>
          </c:val>
        </c:ser>
        <c:firstSliceAng val="0"/>
        <c:holeSize val="58"/>
      </c:doughnutChart>
      <c:spPr>
        <a:noFill/>
        <a:ln>
          <a:noFill/>
        </a:ln>
        <a:effectLst/>
      </c:spPr>
    </c:plotArea>
    <c:legend>
      <c:legendPos val="b"/>
      <c:overlay val="0"/>
      <c:txPr>
        <a:bodyPr/>
        <a:lstStyle/>
        <a:p>
          <a:pPr>
            <a:defRPr sz="1300">
              <a:solidFill>
                <a:srgbClr val="1C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project predicts land prices in the Colombo district. Land is the biggest purchase most Sri Lankan families make, but there is no public, plot-level price guide - people judge prices from a few online ads, and similar plots are advertised at very different prices. So I built a model that estimates a fair asking price per perch from a plot's area, size and land type, and put it in a live web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data is 4,494 real land advertisements from the Colombo district, posted in 2021. I chose price per perch as the target, because it makes plots of different sizes comparable, and I dropped the advertised total price because it would leak the answer. Three listings were priced per acre and never converted, so I fixed them, and I removed duplicates. And because prices are extremely skewed, removing outliers directly would have thrown away 297 genuine expensive plots in central Colombo - so I log-transformed the price first, which left only 21 real outliers. That gave 4,275 clean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exploratory analysis showed one thing very clearly: location sets the price. The median price per perch differs 84 times between the cheapest area, Kosgama, and the most expensive, Kurunduwatta in central Colombo. Distance from Colombo Fort has a correlation of minus 0.81 with price. And the location features are strongly correlated with each other - they mostly describe one thing: how central and built-up an area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This table compares every model I trained. Ridge, Random Forest, XGBoost, LightGBM, CatBoost and stacking were all taught in the module. My new algorithm is NGBoost, which was not covered in the lectures. Every taught model predicts one number; NGBoost predicts a whole probability distribution of the price, using natural gradient boosting, so it can give a price range. After tuning with five-fold cross-validation it ranks third of eight, with an R-squared of 0.863, and its 80 percent ranges contain 82 percent of actual prices. Tuning helped every model: about 0.83 with default settings, 0.86 tuned. The final price model is the stacking ensemble, which had the lowest cross-validated error and a median error of about 12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most important finding came from the data itself. All 27 location features have exactly one value per area - they were calculated from the area name, not from each plot. So 81 percent of price variation is between areas. When I tested the models on areas they had never seen, accuracy dropped - but that is where the tree models clearly beat the linear model: R-squared 0.70 against 0.54. Because of this, the app only offers areas the model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To explain the model I used SHAP and LIME on the final ensemble. SHAP shows that location drives 87 percent of the model's decisions, land type 9 and land size 4. For a single held-out plot in Dampe, the waterfall shows why it was priced low: it is 28 kilometres from Fort, Dampe is a low-priced area, and the nearest grade-A school is far away. LIME, which works in a completely different way, agreed on the same top three drivers, and CatBoost's own exact SHAP values show the same 87 percent location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Here is the deployed application. [Switch to the browser.] I choose an area and a size. Battaramulla, about 11 kilometres from Fort, comes out at about 2.6 million rupees per perch, in the high band; Kaduwela, further out, at about 460,000, in the low band. Under each price, NGBoost gives a likely range, for Battaramulla about 1.5 to 4 million, and SHAP explains it: Battaramulla's location roughly doubles the price compared with a typical plot. Behind it is a GitHub repository with 17 automated tests, a retraining pipeline with a quality gate, and automatic redeployment. [Switch back to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conclude: all tuned models perform almost the same, so the data - not the algorithm - limits the accuracy. The main limitations are asking prices rather than sale prices, 2021 data, and location recorded per area. Per-plot location data would improve the model most. Thank you -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only for questions. Final model selected on cross-validated RMSE (lowest: stacking, 0.4265), not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only for questions. Every model chose strong regularisation, consistent with little signal within an area beyond size and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154680"/>
            <a:ext cx="10058400" cy="100584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Colombo Land Price Estimator  ·  IT5514 Applied Machine Learning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colombo-land-price-ml-5jekcfuzve5ezgfgjjpqoh.streamlit.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1463040"/>
          </a:xfrm>
          <a:prstGeom prst="rect">
            <a:avLst/>
          </a:prstGeom>
          <a:noFill/>
          <a:ln/>
        </p:spPr>
        <p:txBody>
          <a:bodyPr wrap="square" lIns="0" tIns="0" rIns="0" bIns="0" rtlCol="0" anchor="b"/>
          <a:lstStyle/>
          <a:p>
            <a:pPr algn="l" indent="0" marL="0">
              <a:buNone/>
            </a:pPr>
            <a:r>
              <a:rPr lang="en-US" sz="4400" b="1" dirty="0">
                <a:solidFill>
                  <a:schemeClr val="bg1"/>
                </a:solidFill>
              </a:rPr>
              <a:t>Predicting Land Prices in the Colombo District</a:t>
            </a:r>
            <a:endParaRPr lang="en-US" sz="4400" dirty="0"/>
          </a:p>
        </p:txBody>
      </p:sp>
      <p:sp>
        <p:nvSpPr>
          <p:cNvPr id="3" name="Text 0"/>
          <p:cNvSpPr/>
          <p:nvPr>
            <p:ph idx="101" type="body" hasCustomPrompt="1"/>
          </p:nvPr>
        </p:nvSpPr>
        <p:spPr>
          <a:xfrm>
            <a:off x="731520" y="3154680"/>
            <a:ext cx="10058400" cy="1005840"/>
          </a:xfrm>
          <a:prstGeom prst="rect">
            <a:avLst/>
          </a:prstGeom>
          <a:noFill/>
          <a:ln/>
        </p:spPr>
        <p:txBody>
          <a:bodyPr wrap="square" lIns="0" tIns="0" rIns="0" bIns="0" rtlCol="0" anchor="t"/>
          <a:lstStyle/>
          <a:p>
            <a:pPr indent="0" marL="0">
              <a:buNone/>
            </a:pPr>
            <a:r>
              <a:rPr lang="en-US" sz="2000" dirty="0">
                <a:solidFill>
                  <a:schemeClr val="accent5"/>
                </a:solidFill>
              </a:rPr>
              <a:t>A fair asking price per perch from a plot's area, size and land type</a:t>
            </a:r>
            <a:endParaRPr lang="en-US" sz="2000" dirty="0"/>
          </a:p>
        </p:txBody>
      </p:sp>
      <p:sp>
        <p:nvSpPr>
          <p:cNvPr id="4" name="chip-0"/>
          <p:cNvSpPr/>
          <p:nvPr/>
        </p:nvSpPr>
        <p:spPr>
          <a:xfrm>
            <a:off x="731520" y="4343400"/>
            <a:ext cx="2286000" cy="502920"/>
          </a:xfrm>
          <a:prstGeom prst="roundRect">
            <a:avLst>
              <a:gd name="adj" fmla="val 49091"/>
            </a:avLst>
          </a:prstGeom>
          <a:solidFill>
            <a:schemeClr val="accent2"/>
          </a:solidFill>
          <a:ln w="12700">
            <a:solidFill>
              <a:schemeClr val="accent2"/>
            </a:solidFill>
            <a:prstDash val="solid"/>
          </a:ln>
        </p:spPr>
      </p:sp>
      <p:sp>
        <p:nvSpPr>
          <p:cNvPr id="5" name="Text 3"/>
          <p:cNvSpPr txBox="1"/>
          <p:nvPr/>
        </p:nvSpPr>
        <p:spPr>
          <a:xfrm>
            <a:off x="731520" y="4343400"/>
            <a:ext cx="2286000" cy="502920"/>
          </a:xfrm>
          <a:prstGeom prst="rect">
            <a:avLst/>
          </a:prstGeom>
          <a:noFill/>
          <a:ln/>
        </p:spPr>
        <p:txBody>
          <a:bodyPr wrap="square" lIns="0" tIns="0" rIns="0" bIns="0" rtlCol="0" anchor="ctr"/>
          <a:lstStyle/>
          <a:p>
            <a:pPr algn="ctr" indent="0" marL="0">
              <a:buNone/>
            </a:pPr>
            <a:r>
              <a:rPr lang="en-US" sz="1500" b="1" dirty="0">
                <a:solidFill>
                  <a:schemeClr val="bg1"/>
                </a:solidFill>
              </a:rPr>
              <a:t>4,494 real listings</a:t>
            </a:r>
            <a:endParaRPr lang="en-US" sz="1500" dirty="0"/>
          </a:p>
        </p:txBody>
      </p:sp>
      <p:sp>
        <p:nvSpPr>
          <p:cNvPr id="6" name="chip-1"/>
          <p:cNvSpPr/>
          <p:nvPr/>
        </p:nvSpPr>
        <p:spPr>
          <a:xfrm>
            <a:off x="3246120" y="4343400"/>
            <a:ext cx="2286000" cy="502920"/>
          </a:xfrm>
          <a:prstGeom prst="roundRect">
            <a:avLst>
              <a:gd name="adj" fmla="val 49091"/>
            </a:avLst>
          </a:prstGeom>
          <a:solidFill>
            <a:schemeClr val="accent2"/>
          </a:solidFill>
          <a:ln w="12700">
            <a:solidFill>
              <a:schemeClr val="accent2"/>
            </a:solidFill>
            <a:prstDash val="solid"/>
          </a:ln>
        </p:spPr>
      </p:sp>
      <p:sp>
        <p:nvSpPr>
          <p:cNvPr id="7" name="Text 5"/>
          <p:cNvSpPr txBox="1"/>
          <p:nvPr/>
        </p:nvSpPr>
        <p:spPr>
          <a:xfrm>
            <a:off x="3246120" y="4343400"/>
            <a:ext cx="2286000" cy="502920"/>
          </a:xfrm>
          <a:prstGeom prst="rect">
            <a:avLst/>
          </a:prstGeom>
          <a:noFill/>
          <a:ln/>
        </p:spPr>
        <p:txBody>
          <a:bodyPr wrap="square" lIns="0" tIns="0" rIns="0" bIns="0" rtlCol="0" anchor="ctr"/>
          <a:lstStyle/>
          <a:p>
            <a:pPr algn="ctr" indent="0" marL="0">
              <a:buNone/>
            </a:pPr>
            <a:r>
              <a:rPr lang="en-US" sz="1500" b="1" dirty="0">
                <a:solidFill>
                  <a:schemeClr val="bg1"/>
                </a:solidFill>
              </a:rPr>
              <a:t>160 areas</a:t>
            </a:r>
            <a:endParaRPr lang="en-US" sz="1500" dirty="0"/>
          </a:p>
        </p:txBody>
      </p:sp>
      <p:sp>
        <p:nvSpPr>
          <p:cNvPr id="8" name="chip-2"/>
          <p:cNvSpPr/>
          <p:nvPr/>
        </p:nvSpPr>
        <p:spPr>
          <a:xfrm>
            <a:off x="5760720" y="4343400"/>
            <a:ext cx="2286000" cy="502920"/>
          </a:xfrm>
          <a:prstGeom prst="roundRect">
            <a:avLst>
              <a:gd name="adj" fmla="val 49091"/>
            </a:avLst>
          </a:prstGeom>
          <a:solidFill>
            <a:schemeClr val="accent2"/>
          </a:solidFill>
          <a:ln w="12700">
            <a:solidFill>
              <a:schemeClr val="accent2"/>
            </a:solidFill>
            <a:prstDash val="solid"/>
          </a:ln>
        </p:spPr>
      </p:sp>
      <p:sp>
        <p:nvSpPr>
          <p:cNvPr id="9" name="Text 7"/>
          <p:cNvSpPr txBox="1"/>
          <p:nvPr/>
        </p:nvSpPr>
        <p:spPr>
          <a:xfrm>
            <a:off x="5760720" y="4343400"/>
            <a:ext cx="2286000" cy="502920"/>
          </a:xfrm>
          <a:prstGeom prst="rect">
            <a:avLst/>
          </a:prstGeom>
          <a:noFill/>
          <a:ln/>
        </p:spPr>
        <p:txBody>
          <a:bodyPr wrap="square" lIns="0" tIns="0" rIns="0" bIns="0" rtlCol="0" anchor="ctr"/>
          <a:lstStyle/>
          <a:p>
            <a:pPr algn="ctr" indent="0" marL="0">
              <a:buNone/>
            </a:pPr>
            <a:r>
              <a:rPr lang="en-US" sz="1500" b="1" dirty="0">
                <a:solidFill>
                  <a:schemeClr val="bg1"/>
                </a:solidFill>
              </a:rPr>
              <a:t>Live web app</a:t>
            </a:r>
            <a:endParaRPr lang="en-US" sz="1500" dirty="0"/>
          </a:p>
        </p:txBody>
      </p:sp>
      <p:sp>
        <p:nvSpPr>
          <p:cNvPr id="10" name="Text 8"/>
          <p:cNvSpPr txBox="1"/>
          <p:nvPr/>
        </p:nvSpPr>
        <p:spPr>
          <a:xfrm>
            <a:off x="731520" y="5989320"/>
            <a:ext cx="10058400" cy="365760"/>
          </a:xfrm>
          <a:prstGeom prst="rect">
            <a:avLst/>
          </a:prstGeom>
          <a:noFill/>
          <a:ln/>
        </p:spPr>
        <p:txBody>
          <a:bodyPr wrap="square" lIns="0" tIns="0" rIns="0" bIns="0" rtlCol="0" anchor="ctr"/>
          <a:lstStyle/>
          <a:p>
            <a:pPr indent="0" marL="0">
              <a:buNone/>
            </a:pPr>
            <a:r>
              <a:rPr lang="en-US" sz="1400" dirty="0">
                <a:solidFill>
                  <a:schemeClr val="accent5"/>
                </a:solidFill>
              </a:rPr>
              <a:t>Amal Ranawaka  ·  IT5514 Applied Machine Learning  ·  Final assignment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Data and preparation: 4,494 listings to 4,275</a:t>
            </a:r>
            <a:endParaRPr lang="en-US" sz="3200" dirty="0"/>
          </a:p>
        </p:txBody>
      </p:sp>
      <p:sp>
        <p:nvSpPr>
          <p:cNvPr id="3" name="dot-1"/>
          <p:cNvSpPr/>
          <p:nvPr/>
        </p:nvSpPr>
        <p:spPr>
          <a:xfrm>
            <a:off x="548640" y="1463040"/>
            <a:ext cx="384048" cy="384048"/>
          </a:xfrm>
          <a:prstGeom prst="ellipse">
            <a:avLst/>
          </a:prstGeom>
          <a:solidFill>
            <a:schemeClr val="tx2"/>
          </a:solidFill>
          <a:ln w="12700">
            <a:solidFill>
              <a:schemeClr val="tx2"/>
            </a:solidFill>
            <a:prstDash val="solid"/>
          </a:ln>
        </p:spPr>
      </p:sp>
      <p:sp>
        <p:nvSpPr>
          <p:cNvPr id="4" name="Text 2"/>
          <p:cNvSpPr txBox="1"/>
          <p:nvPr/>
        </p:nvSpPr>
        <p:spPr>
          <a:xfrm>
            <a:off x="548640" y="14630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97280" y="1417320"/>
            <a:ext cx="4480560" cy="384048"/>
          </a:xfrm>
          <a:prstGeom prst="rect">
            <a:avLst/>
          </a:prstGeom>
          <a:noFill/>
          <a:ln/>
        </p:spPr>
        <p:txBody>
          <a:bodyPr wrap="square" lIns="0" tIns="0" rIns="0" bIns="0" rtlCol="0" anchor="ctr"/>
          <a:lstStyle/>
          <a:p>
            <a:pPr indent="0" marL="0">
              <a:buNone/>
            </a:pPr>
            <a:r>
              <a:rPr lang="en-US" sz="1800" b="1" dirty="0">
                <a:solidFill>
                  <a:schemeClr val="tx1"/>
                </a:solidFill>
              </a:rPr>
              <a:t>Target: price per perch</a:t>
            </a:r>
            <a:endParaRPr lang="en-US" sz="1800" dirty="0"/>
          </a:p>
        </p:txBody>
      </p:sp>
      <p:sp>
        <p:nvSpPr>
          <p:cNvPr id="6" name="Text 4"/>
          <p:cNvSpPr txBox="1"/>
          <p:nvPr/>
        </p:nvSpPr>
        <p:spPr>
          <a:xfrm>
            <a:off x="1097280" y="1819656"/>
            <a:ext cx="4480560" cy="502920"/>
          </a:xfrm>
          <a:prstGeom prst="rect">
            <a:avLst/>
          </a:prstGeom>
          <a:noFill/>
          <a:ln/>
        </p:spPr>
        <p:txBody>
          <a:bodyPr wrap="square" lIns="0" tIns="0" rIns="0" bIns="0" rtlCol="0" anchor="t"/>
          <a:lstStyle/>
          <a:p>
            <a:pPr indent="0" marL="0">
              <a:buNone/>
            </a:pPr>
            <a:r>
              <a:rPr lang="en-US" sz="1400" dirty="0">
                <a:solidFill>
                  <a:schemeClr val="accent4"/>
                </a:solidFill>
              </a:rPr>
              <a:t>Comparable across plot sizes; advertised total price dropped (leakage)</a:t>
            </a:r>
            <a:endParaRPr lang="en-US" sz="1400" dirty="0"/>
          </a:p>
        </p:txBody>
      </p:sp>
      <p:sp>
        <p:nvSpPr>
          <p:cNvPr id="7" name="dot-2"/>
          <p:cNvSpPr/>
          <p:nvPr/>
        </p:nvSpPr>
        <p:spPr>
          <a:xfrm>
            <a:off x="548640" y="2487168"/>
            <a:ext cx="384048" cy="384048"/>
          </a:xfrm>
          <a:prstGeom prst="ellipse">
            <a:avLst/>
          </a:prstGeom>
          <a:solidFill>
            <a:schemeClr val="tx2"/>
          </a:solidFill>
          <a:ln w="12700">
            <a:solidFill>
              <a:schemeClr val="tx2"/>
            </a:solidFill>
            <a:prstDash val="solid"/>
          </a:ln>
        </p:spPr>
      </p:sp>
      <p:sp>
        <p:nvSpPr>
          <p:cNvPr id="8" name="Text 6"/>
          <p:cNvSpPr txBox="1"/>
          <p:nvPr/>
        </p:nvSpPr>
        <p:spPr>
          <a:xfrm>
            <a:off x="548640" y="24871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441448"/>
            <a:ext cx="4480560" cy="384048"/>
          </a:xfrm>
          <a:prstGeom prst="rect">
            <a:avLst/>
          </a:prstGeom>
          <a:noFill/>
          <a:ln/>
        </p:spPr>
        <p:txBody>
          <a:bodyPr wrap="square" lIns="0" tIns="0" rIns="0" bIns="0" rtlCol="0" anchor="ctr"/>
          <a:lstStyle/>
          <a:p>
            <a:pPr indent="0" marL="0">
              <a:buNone/>
            </a:pPr>
            <a:r>
              <a:rPr lang="en-US" sz="1800" b="1" dirty="0">
                <a:solidFill>
                  <a:schemeClr val="tx1"/>
                </a:solidFill>
              </a:rPr>
              <a:t>Fixed a unit error</a:t>
            </a:r>
            <a:endParaRPr lang="en-US" sz="1800" dirty="0"/>
          </a:p>
        </p:txBody>
      </p:sp>
      <p:sp>
        <p:nvSpPr>
          <p:cNvPr id="10" name="Text 8"/>
          <p:cNvSpPr txBox="1"/>
          <p:nvPr/>
        </p:nvSpPr>
        <p:spPr>
          <a:xfrm>
            <a:off x="1097280" y="2843784"/>
            <a:ext cx="4480560" cy="502920"/>
          </a:xfrm>
          <a:prstGeom prst="rect">
            <a:avLst/>
          </a:prstGeom>
          <a:noFill/>
          <a:ln/>
        </p:spPr>
        <p:txBody>
          <a:bodyPr wrap="square" lIns="0" tIns="0" rIns="0" bIns="0" rtlCol="0" anchor="t"/>
          <a:lstStyle/>
          <a:p>
            <a:pPr indent="0" marL="0">
              <a:buNone/>
            </a:pPr>
            <a:r>
              <a:rPr lang="en-US" sz="1400" dirty="0">
                <a:solidFill>
                  <a:schemeClr val="accent4"/>
                </a:solidFill>
              </a:rPr>
              <a:t>3 listings priced per acre were never converted (divided by 160)</a:t>
            </a:r>
            <a:endParaRPr lang="en-US" sz="1400" dirty="0"/>
          </a:p>
        </p:txBody>
      </p:sp>
      <p:sp>
        <p:nvSpPr>
          <p:cNvPr id="11" name="dot-3"/>
          <p:cNvSpPr/>
          <p:nvPr/>
        </p:nvSpPr>
        <p:spPr>
          <a:xfrm>
            <a:off x="548640" y="3511296"/>
            <a:ext cx="384048" cy="384048"/>
          </a:xfrm>
          <a:prstGeom prst="ellipse">
            <a:avLst/>
          </a:prstGeom>
          <a:solidFill>
            <a:schemeClr val="tx2"/>
          </a:solidFill>
          <a:ln w="12700">
            <a:solidFill>
              <a:schemeClr val="tx2"/>
            </a:solidFill>
            <a:prstDash val="solid"/>
          </a:ln>
        </p:spPr>
      </p:sp>
      <p:sp>
        <p:nvSpPr>
          <p:cNvPr id="12" name="Text 10"/>
          <p:cNvSpPr txBox="1"/>
          <p:nvPr/>
        </p:nvSpPr>
        <p:spPr>
          <a:xfrm>
            <a:off x="54864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097280" y="3465576"/>
            <a:ext cx="4480560" cy="384048"/>
          </a:xfrm>
          <a:prstGeom prst="rect">
            <a:avLst/>
          </a:prstGeom>
          <a:noFill/>
          <a:ln/>
        </p:spPr>
        <p:txBody>
          <a:bodyPr wrap="square" lIns="0" tIns="0" rIns="0" bIns="0" rtlCol="0" anchor="ctr"/>
          <a:lstStyle/>
          <a:p>
            <a:pPr indent="0" marL="0">
              <a:buNone/>
            </a:pPr>
            <a:r>
              <a:rPr lang="en-US" sz="1800" b="1" dirty="0">
                <a:solidFill>
                  <a:schemeClr val="tx1"/>
                </a:solidFill>
              </a:rPr>
              <a:t>Removed 198 duplicates</a:t>
            </a:r>
            <a:endParaRPr lang="en-US" sz="1800" dirty="0"/>
          </a:p>
        </p:txBody>
      </p:sp>
      <p:sp>
        <p:nvSpPr>
          <p:cNvPr id="14" name="Text 12"/>
          <p:cNvSpPr txBox="1"/>
          <p:nvPr/>
        </p:nvSpPr>
        <p:spPr>
          <a:xfrm>
            <a:off x="1097280" y="3867912"/>
            <a:ext cx="4480560" cy="502920"/>
          </a:xfrm>
          <a:prstGeom prst="rect">
            <a:avLst/>
          </a:prstGeom>
          <a:noFill/>
          <a:ln/>
        </p:spPr>
        <p:txBody>
          <a:bodyPr wrap="square" lIns="0" tIns="0" rIns="0" bIns="0" rtlCol="0" anchor="t"/>
          <a:lstStyle/>
          <a:p>
            <a:pPr indent="0" marL="0">
              <a:buNone/>
            </a:pPr>
            <a:r>
              <a:rPr lang="en-US" sz="1400" dirty="0">
                <a:solidFill>
                  <a:schemeClr val="accent4"/>
                </a:solidFill>
              </a:rPr>
              <a:t>Before splitting, so no listing is in both train and test</a:t>
            </a:r>
            <a:endParaRPr lang="en-US" sz="1400" dirty="0"/>
          </a:p>
        </p:txBody>
      </p:sp>
      <p:sp>
        <p:nvSpPr>
          <p:cNvPr id="15" name="dot-4"/>
          <p:cNvSpPr/>
          <p:nvPr/>
        </p:nvSpPr>
        <p:spPr>
          <a:xfrm>
            <a:off x="548640" y="4535424"/>
            <a:ext cx="384048" cy="384048"/>
          </a:xfrm>
          <a:prstGeom prst="ellipse">
            <a:avLst/>
          </a:prstGeom>
          <a:solidFill>
            <a:schemeClr val="tx2"/>
          </a:solidFill>
          <a:ln w="12700">
            <a:solidFill>
              <a:schemeClr val="tx2"/>
            </a:solidFill>
            <a:prstDash val="solid"/>
          </a:ln>
        </p:spPr>
      </p:sp>
      <p:sp>
        <p:nvSpPr>
          <p:cNvPr id="16" name="Text 14"/>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1097280" y="4489704"/>
            <a:ext cx="4480560" cy="384048"/>
          </a:xfrm>
          <a:prstGeom prst="rect">
            <a:avLst/>
          </a:prstGeom>
          <a:noFill/>
          <a:ln/>
        </p:spPr>
        <p:txBody>
          <a:bodyPr wrap="square" lIns="0" tIns="0" rIns="0" bIns="0" rtlCol="0" anchor="ctr"/>
          <a:lstStyle/>
          <a:p>
            <a:pPr indent="0" marL="0">
              <a:buNone/>
            </a:pPr>
            <a:r>
              <a:rPr lang="en-US" sz="1800" b="1" dirty="0">
                <a:solidFill>
                  <a:schemeClr val="tx1"/>
                </a:solidFill>
              </a:rPr>
              <a:t>Log transform, then outliers</a:t>
            </a:r>
            <a:endParaRPr lang="en-US" sz="1800" dirty="0"/>
          </a:p>
        </p:txBody>
      </p:sp>
      <p:sp>
        <p:nvSpPr>
          <p:cNvPr id="18" name="Text 16"/>
          <p:cNvSpPr txBox="1"/>
          <p:nvPr/>
        </p:nvSpPr>
        <p:spPr>
          <a:xfrm>
            <a:off x="1097280" y="4892040"/>
            <a:ext cx="4480560" cy="502920"/>
          </a:xfrm>
          <a:prstGeom prst="rect">
            <a:avLst/>
          </a:prstGeom>
          <a:noFill/>
          <a:ln/>
        </p:spPr>
        <p:txBody>
          <a:bodyPr wrap="square" lIns="0" tIns="0" rIns="0" bIns="0" rtlCol="0" anchor="t"/>
          <a:lstStyle/>
          <a:p>
            <a:pPr indent="0" marL="0">
              <a:buNone/>
            </a:pPr>
            <a:r>
              <a:rPr lang="en-US" sz="1400" dirty="0">
                <a:solidFill>
                  <a:schemeClr val="accent4"/>
                </a:solidFill>
              </a:rPr>
              <a:t>Removed 21 true outliers instead of 297 genuine expensive plots</a:t>
            </a:r>
            <a:endParaRPr lang="en-US" sz="1400" dirty="0"/>
          </a:p>
        </p:txBody>
      </p:sp>
      <p:sp>
        <p:nvSpPr>
          <p:cNvPr id="19" name="chart-card"/>
          <p:cNvSpPr/>
          <p:nvPr/>
        </p:nvSpPr>
        <p:spPr>
          <a:xfrm>
            <a:off x="5943600" y="1417320"/>
            <a:ext cx="5715000" cy="2788920"/>
          </a:xfrm>
          <a:prstGeom prst="roundRect">
            <a:avLst>
              <a:gd name="adj" fmla="val 3934"/>
            </a:avLst>
          </a:prstGeom>
          <a:solidFill>
            <a:schemeClr val="bg2"/>
          </a:solidFill>
          <a:ln w="12700">
            <a:solidFill>
              <a:schemeClr val="bg2"/>
            </a:solidFill>
            <a:prstDash val="solid"/>
          </a:ln>
        </p:spPr>
      </p:sp>
      <p:pic>
        <p:nvPicPr>
          <p:cNvPr id="20" name="Image 0" descr="Price per perch before and after log transform">    </p:cNvPr>
          <p:cNvPicPr>
            <a:picLocks noChangeAspect="1"/>
          </p:cNvPicPr>
          <p:nvPr/>
        </p:nvPicPr>
        <p:blipFill>
          <a:blip r:embed="rId1"/>
          <a:stretch>
            <a:fillRect/>
          </a:stretch>
        </p:blipFill>
        <p:spPr>
          <a:xfrm>
            <a:off x="6080760" y="1783080"/>
            <a:ext cx="5440680" cy="1783245"/>
          </a:xfrm>
          <a:prstGeom prst="rect">
            <a:avLst/>
          </a:prstGeom>
        </p:spPr>
      </p:pic>
      <p:sp>
        <p:nvSpPr>
          <p:cNvPr id="21" name="Text 18"/>
          <p:cNvSpPr txBox="1"/>
          <p:nvPr/>
        </p:nvSpPr>
        <p:spPr>
          <a:xfrm>
            <a:off x="6080760" y="3703320"/>
            <a:ext cx="5440680" cy="365760"/>
          </a:xfrm>
          <a:prstGeom prst="rect">
            <a:avLst/>
          </a:prstGeom>
          <a:noFill/>
          <a:ln/>
        </p:spPr>
        <p:txBody>
          <a:bodyPr wrap="square" lIns="0" tIns="0" rIns="0" bIns="0" rtlCol="0" anchor="ctr"/>
          <a:lstStyle/>
          <a:p>
            <a:pPr indent="0" marL="0">
              <a:buNone/>
            </a:pPr>
            <a:r>
              <a:rPr lang="en-US" sz="1200" dirty="0">
                <a:solidFill>
                  <a:schemeClr val="accent4"/>
                </a:solidFill>
              </a:rPr>
              <a:t>Price per perch: skew 7.19 before, 0.22 after the log transform</a:t>
            </a:r>
            <a:endParaRPr lang="en-US" sz="1200" dirty="0"/>
          </a:p>
        </p:txBody>
      </p:sp>
      <p:sp>
        <p:nvSpPr>
          <p:cNvPr id="22" name="source-card"/>
          <p:cNvSpPr/>
          <p:nvPr/>
        </p:nvSpPr>
        <p:spPr>
          <a:xfrm>
            <a:off x="5943600" y="4434840"/>
            <a:ext cx="5715000" cy="1600200"/>
          </a:xfrm>
          <a:prstGeom prst="roundRect">
            <a:avLst>
              <a:gd name="adj" fmla="val 6857"/>
            </a:avLst>
          </a:prstGeom>
          <a:solidFill>
            <a:schemeClr val="accent6"/>
          </a:solidFill>
          <a:ln w="12700">
            <a:solidFill>
              <a:schemeClr val="accent6"/>
            </a:solidFill>
            <a:prstDash val="solid"/>
          </a:ln>
        </p:spPr>
      </p:sp>
      <p:sp>
        <p:nvSpPr>
          <p:cNvPr id="23" name="Text 20"/>
          <p:cNvSpPr txBox="1"/>
          <p:nvPr/>
        </p:nvSpPr>
        <p:spPr>
          <a:xfrm>
            <a:off x="6172200" y="4572000"/>
            <a:ext cx="5303520" cy="1325880"/>
          </a:xfrm>
          <a:prstGeom prst="rect">
            <a:avLst/>
          </a:prstGeom>
          <a:noFill/>
          <a:ln/>
        </p:spPr>
        <p:txBody>
          <a:bodyPr wrap="square" lIns="0" tIns="0" rIns="0" bIns="0" rtlCol="0" anchor="ctr"/>
          <a:lstStyle/>
          <a:p>
            <a:pPr indent="0" marL="0">
              <a:buNone/>
            </a:pPr>
            <a:r>
              <a:rPr lang="en-US" sz="1400" b="1" dirty="0">
                <a:solidFill>
                  <a:schemeClr val="tx1"/>
                </a:solidFill>
              </a:rPr>
              <a:t>Source: </a:t>
            </a:r>
            <a:pPr indent="0" marL="0">
              <a:buNone/>
            </a:pPr>
            <a:r>
              <a:rPr lang="en-US" sz="1400" dirty="0">
                <a:solidFill>
                  <a:schemeClr val="tx1"/>
                </a:solidFill>
              </a:rPr>
              <a:t>Land prices of Colombo district (Kaggle), online ads posted Jul-Sep 2021, with 27 distance/count features per listing (Fort, schools, hospitals, banks, rail, expressway).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What the data says: location sets the price</a:t>
            </a:r>
            <a:endParaRPr lang="en-US" sz="3200" dirty="0"/>
          </a:p>
        </p:txBody>
      </p:sp>
      <p:pic>
        <p:nvPicPr>
          <p:cNvPr id="3" name="Image 0" descr="Median price per perch in the cheapest and most expensive areas">    </p:cNvPr>
          <p:cNvPicPr>
            <a:picLocks noChangeAspect="1"/>
          </p:cNvPicPr>
          <p:nvPr/>
        </p:nvPicPr>
        <p:blipFill>
          <a:blip r:embed="rId1"/>
          <a:stretch>
            <a:fillRect/>
          </a:stretch>
        </p:blipFill>
        <p:spPr>
          <a:xfrm>
            <a:off x="548640" y="1325880"/>
            <a:ext cx="6721846" cy="4846320"/>
          </a:xfrm>
          <a:prstGeom prst="rect">
            <a:avLst/>
          </a:prstGeom>
        </p:spPr>
      </p:pic>
      <p:sp>
        <p:nvSpPr>
          <p:cNvPr id="4" name="gap-value"/>
          <p:cNvSpPr txBox="1"/>
          <p:nvPr/>
        </p:nvSpPr>
        <p:spPr>
          <a:xfrm>
            <a:off x="7726680" y="1417320"/>
            <a:ext cx="3931920" cy="777240"/>
          </a:xfrm>
          <a:prstGeom prst="rect">
            <a:avLst/>
          </a:prstGeom>
          <a:noFill/>
          <a:ln/>
        </p:spPr>
        <p:txBody>
          <a:bodyPr wrap="square" lIns="0" tIns="0" rIns="0" bIns="0" rtlCol="0" anchor="ctr"/>
          <a:lstStyle/>
          <a:p>
            <a:pPr indent="0" marL="0">
              <a:buNone/>
            </a:pPr>
            <a:r>
              <a:rPr lang="en-US" sz="4400" b="1" dirty="0">
                <a:solidFill>
                  <a:schemeClr val="accent2"/>
                </a:solidFill>
                <a:latin typeface="Cambria" pitchFamily="34" charset="0"/>
                <a:ea typeface="Cambria" pitchFamily="34" charset="-122"/>
                <a:cs typeface="Cambria" pitchFamily="34" charset="-120"/>
              </a:rPr>
              <a:t>84×</a:t>
            </a:r>
            <a:endParaRPr lang="en-US" sz="4400" dirty="0"/>
          </a:p>
        </p:txBody>
      </p:sp>
      <p:sp>
        <p:nvSpPr>
          <p:cNvPr id="5" name="gap-label"/>
          <p:cNvSpPr txBox="1"/>
          <p:nvPr/>
        </p:nvSpPr>
        <p:spPr>
          <a:xfrm>
            <a:off x="7726680" y="2194560"/>
            <a:ext cx="3931920" cy="502920"/>
          </a:xfrm>
          <a:prstGeom prst="rect">
            <a:avLst/>
          </a:prstGeom>
          <a:noFill/>
          <a:ln/>
        </p:spPr>
        <p:txBody>
          <a:bodyPr wrap="square" lIns="0" tIns="0" rIns="0" bIns="0" rtlCol="0" anchor="t"/>
          <a:lstStyle/>
          <a:p>
            <a:pPr indent="0" marL="0">
              <a:buNone/>
            </a:pPr>
            <a:r>
              <a:rPr lang="en-US" sz="1400" dirty="0">
                <a:solidFill>
                  <a:schemeClr val="accent4"/>
                </a:solidFill>
              </a:rPr>
              <a:t>price gap between the cheapest and most expensive areas</a:t>
            </a:r>
            <a:endParaRPr lang="en-US" sz="1400" dirty="0"/>
          </a:p>
        </p:txBody>
      </p:sp>
      <p:sp>
        <p:nvSpPr>
          <p:cNvPr id="6" name="fort-value"/>
          <p:cNvSpPr txBox="1"/>
          <p:nvPr/>
        </p:nvSpPr>
        <p:spPr>
          <a:xfrm>
            <a:off x="7726680" y="2971800"/>
            <a:ext cx="3931920" cy="77724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ρ = −0.81</a:t>
            </a:r>
            <a:endParaRPr lang="en-US" sz="4400" dirty="0"/>
          </a:p>
        </p:txBody>
      </p:sp>
      <p:sp>
        <p:nvSpPr>
          <p:cNvPr id="7" name="fort-label"/>
          <p:cNvSpPr txBox="1"/>
          <p:nvPr/>
        </p:nvSpPr>
        <p:spPr>
          <a:xfrm>
            <a:off x="7726680" y="3749040"/>
            <a:ext cx="3931920" cy="502920"/>
          </a:xfrm>
          <a:prstGeom prst="rect">
            <a:avLst/>
          </a:prstGeom>
          <a:noFill/>
          <a:ln/>
        </p:spPr>
        <p:txBody>
          <a:bodyPr wrap="square" lIns="0" tIns="0" rIns="0" bIns="0" rtlCol="0" anchor="t"/>
          <a:lstStyle/>
          <a:p>
            <a:pPr indent="0" marL="0">
              <a:buNone/>
            </a:pPr>
            <a:r>
              <a:rPr lang="en-US" sz="1400" dirty="0">
                <a:solidFill>
                  <a:schemeClr val="accent4"/>
                </a:solidFill>
              </a:rPr>
              <a:t>distance from Colombo Fort vs price (strongest link)</a:t>
            </a:r>
            <a:endParaRPr lang="en-US" sz="1400" dirty="0"/>
          </a:p>
        </p:txBody>
      </p:sp>
      <p:sp>
        <p:nvSpPr>
          <p:cNvPr id="8" name="overlap-value"/>
          <p:cNvSpPr txBox="1"/>
          <p:nvPr/>
        </p:nvSpPr>
        <p:spPr>
          <a:xfrm>
            <a:off x="7726680" y="4526280"/>
            <a:ext cx="3931920" cy="77724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22 of 45</a:t>
            </a:r>
            <a:endParaRPr lang="en-US" sz="4400" dirty="0"/>
          </a:p>
        </p:txBody>
      </p:sp>
      <p:sp>
        <p:nvSpPr>
          <p:cNvPr id="9" name="overlap-label"/>
          <p:cNvSpPr txBox="1"/>
          <p:nvPr/>
        </p:nvSpPr>
        <p:spPr>
          <a:xfrm>
            <a:off x="7726680" y="5303520"/>
            <a:ext cx="3931920" cy="502920"/>
          </a:xfrm>
          <a:prstGeom prst="rect">
            <a:avLst/>
          </a:prstGeom>
          <a:noFill/>
          <a:ln/>
        </p:spPr>
        <p:txBody>
          <a:bodyPr wrap="square" lIns="0" tIns="0" rIns="0" bIns="0" rtlCol="0" anchor="t"/>
          <a:lstStyle/>
          <a:p>
            <a:pPr indent="0" marL="0">
              <a:buNone/>
            </a:pPr>
            <a:r>
              <a:rPr lang="en-US" sz="1400" dirty="0">
                <a:solidFill>
                  <a:schemeClr val="accent4"/>
                </a:solidFill>
              </a:rPr>
              <a:t>location-feature pairs strongly correlated (|ρ| &gt; 0.7)</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Model accuracy: NGBoost (new) and the final stack</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406640" cy="914400"/>
        </p:xfrm>
        <a:graphic>
          <a:graphicData uri="http://schemas.openxmlformats.org/drawingml/2006/table">
            <a:tbl>
              <a:tblPr/>
              <a:tblGrid>
                <a:gridCol w="3017520"/>
                <a:gridCol w="1554480"/>
                <a:gridCol w="1280160"/>
                <a:gridCol w="1554480"/>
              </a:tblGrid>
              <a:tr h="411480">
                <a:tc>
                  <a:txBody>
                    <a:bodyPr/>
                    <a:lstStyle/>
                    <a:p>
                      <a:pPr algn="l" indent="0" marL="0">
                        <a:buNone/>
                      </a:pPr>
                      <a:r>
                        <a:rPr lang="en-US" sz="1500" b="1" dirty="0">
                          <a:solidFill>
                            <a:srgbClr val="FFFFFF"/>
                          </a:solidFill>
                        </a:rPr>
                        <a:t>Model</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algn="ctr" indent="0" marL="0">
                        <a:buNone/>
                      </a:pPr>
                      <a:r>
                        <a:rPr lang="en-US" sz="1500" b="1" dirty="0">
                          <a:solidFill>
                            <a:srgbClr val="FFFFFF"/>
                          </a:solidFill>
                        </a:rPr>
                        <a:t>CV RMSE (log) ↓</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algn="ctr" indent="0" marL="0">
                        <a:buNone/>
                      </a:pPr>
                      <a:r>
                        <a:rPr lang="en-US" sz="1500" b="1" dirty="0">
                          <a:solidFill>
                            <a:srgbClr val="FFFFFF"/>
                          </a:solidFill>
                        </a:rPr>
                        <a:t>Test R² ↑</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algn="ctr" indent="0" marL="0">
                        <a:buNone/>
                      </a:pPr>
                      <a:r>
                        <a:rPr lang="en-US" sz="1500" b="1" dirty="0">
                          <a:solidFill>
                            <a:srgbClr val="FFFFFF"/>
                          </a:solidFill>
                        </a:rPr>
                        <a:t>Median error ↓</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r>
              <a:tr h="411480">
                <a:tc>
                  <a:txBody>
                    <a:bodyPr/>
                    <a:lstStyle/>
                    <a:p>
                      <a:pPr algn="l" indent="0" marL="0">
                        <a:buNone/>
                      </a:pPr>
                      <a:r>
                        <a:rPr lang="en-US" sz="1500" b="1" dirty="0">
                          <a:solidFill>
                            <a:srgbClr val="B45309"/>
                          </a:solidFill>
                        </a:rPr>
                        <a:t>Stacking (RF + XGB + Cat)</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c>
                  <a:txBody>
                    <a:bodyPr/>
                    <a:lstStyle/>
                    <a:p>
                      <a:pPr algn="ctr" indent="0" marL="0">
                        <a:buNone/>
                      </a:pPr>
                      <a:r>
                        <a:rPr lang="en-US" sz="1500" b="1" dirty="0">
                          <a:solidFill>
                            <a:srgbClr val="B45309"/>
                          </a:solidFill>
                        </a:rPr>
                        <a:t>0.4265</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c>
                  <a:txBody>
                    <a:bodyPr/>
                    <a:lstStyle/>
                    <a:p>
                      <a:pPr algn="ctr" indent="0" marL="0">
                        <a:buNone/>
                      </a:pPr>
                      <a:r>
                        <a:rPr lang="en-US" sz="1500" b="1" dirty="0">
                          <a:solidFill>
                            <a:srgbClr val="B45309"/>
                          </a:solidFill>
                        </a:rPr>
                        <a:t>0.866</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c>
                  <a:txBody>
                    <a:bodyPr/>
                    <a:lstStyle/>
                    <a:p>
                      <a:pPr algn="ctr" indent="0" marL="0">
                        <a:buNone/>
                      </a:pPr>
                      <a:r>
                        <a:rPr lang="en-US" sz="1500" b="1" dirty="0">
                          <a:solidFill>
                            <a:srgbClr val="B45309"/>
                          </a:solidFill>
                        </a:rPr>
                        <a:t>11.8%</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r>
              <a:tr h="411480">
                <a:tc>
                  <a:txBody>
                    <a:bodyPr/>
                    <a:lstStyle/>
                    <a:p>
                      <a:pPr algn="l" indent="0" marL="0">
                        <a:buNone/>
                      </a:pPr>
                      <a:r>
                        <a:rPr lang="en-US" sz="1500" dirty="0">
                          <a:solidFill>
                            <a:srgbClr val="1C2430"/>
                          </a:solidFill>
                        </a:rPr>
                        <a:t>LightGBM (tuned)</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0.4274</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0.862</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13.5%</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r h="411480">
                <a:tc>
                  <a:txBody>
                    <a:bodyPr/>
                    <a:lstStyle/>
                    <a:p>
                      <a:pPr algn="l" indent="0" marL="0">
                        <a:buNone/>
                      </a:pPr>
                      <a:r>
                        <a:rPr lang="en-US" sz="1500" b="1" dirty="0">
                          <a:solidFill>
                            <a:srgbClr val="1F4E79"/>
                          </a:solidFill>
                        </a:rPr>
                        <a:t>NGBoost (tuned) ★ new</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c>
                  <a:txBody>
                    <a:bodyPr/>
                    <a:lstStyle/>
                    <a:p>
                      <a:pPr algn="ctr" indent="0" marL="0">
                        <a:buNone/>
                      </a:pPr>
                      <a:r>
                        <a:rPr lang="en-US" sz="1500" b="1" dirty="0">
                          <a:solidFill>
                            <a:srgbClr val="1F4E79"/>
                          </a:solidFill>
                        </a:rPr>
                        <a:t>0.4278</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c>
                  <a:txBody>
                    <a:bodyPr/>
                    <a:lstStyle/>
                    <a:p>
                      <a:pPr algn="ctr" indent="0" marL="0">
                        <a:buNone/>
                      </a:pPr>
                      <a:r>
                        <a:rPr lang="en-US" sz="1500" b="1" dirty="0">
                          <a:solidFill>
                            <a:srgbClr val="1F4E79"/>
                          </a:solidFill>
                        </a:rPr>
                        <a:t>0.863</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c>
                  <a:txBody>
                    <a:bodyPr/>
                    <a:lstStyle/>
                    <a:p>
                      <a:pPr algn="ctr" indent="0" marL="0">
                        <a:buNone/>
                      </a:pPr>
                      <a:r>
                        <a:rPr lang="en-US" sz="1500" b="1" dirty="0">
                          <a:solidFill>
                            <a:srgbClr val="1F4E79"/>
                          </a:solidFill>
                        </a:rPr>
                        <a:t>13.1%</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r>
              <a:tr h="411480">
                <a:tc>
                  <a:txBody>
                    <a:bodyPr/>
                    <a:lstStyle/>
                    <a:p>
                      <a:pPr algn="l" indent="0" marL="0">
                        <a:buNone/>
                      </a:pPr>
                      <a:r>
                        <a:rPr lang="en-US" sz="1500" dirty="0">
                          <a:solidFill>
                            <a:srgbClr val="1C2430"/>
                          </a:solidFill>
                        </a:rPr>
                        <a:t>XGBoost (tuned)</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0.4282</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0.862</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12.2%</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1C2430"/>
                          </a:solidFill>
                        </a:rPr>
                        <a:t>Random Forest (tuned)</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0.4289</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0.861</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11.5%</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1C2430"/>
                          </a:solidFill>
                        </a:rPr>
                        <a:t>CatBoost (tuned)</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0.4311</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0.866</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C2430"/>
                          </a:solidFill>
                        </a:rPr>
                        <a:t>12.3%</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5B6675"/>
                          </a:solidFill>
                        </a:rPr>
                        <a:t>Random Forest (default)</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0.4450</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0.834</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10.3%</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5B6675"/>
                          </a:solidFill>
                        </a:rPr>
                        <a:t>XGBoost (default)</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0.4490</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0.830</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11.0%</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5B6675"/>
                          </a:solidFill>
                        </a:rPr>
                        <a:t>Ridge (baseline)</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0.4509</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0.836</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B6675"/>
                          </a:solidFill>
                        </a:rPr>
                        <a:t>16.5%</a:t>
                      </a:r>
                      <a:endParaRPr lang="en-US" sz="15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532120"/>
            <a:ext cx="7406640" cy="548640"/>
          </a:xfrm>
          <a:prstGeom prst="rect">
            <a:avLst/>
          </a:prstGeom>
          <a:noFill/>
          <a:ln/>
        </p:spPr>
        <p:txBody>
          <a:bodyPr wrap="square" lIns="0" tIns="0" rIns="0" bIns="0" rtlCol="0" anchor="t"/>
          <a:lstStyle/>
          <a:p>
            <a:pPr indent="0" marL="0">
              <a:buNone/>
            </a:pPr>
            <a:r>
              <a:rPr lang="en-US" sz="1200" dirty="0">
                <a:solidFill>
                  <a:schemeClr val="accent4"/>
                </a:solidFill>
              </a:rPr>
              <a:t>All models except NGBoost were taught. Ranked by cross-validated error (training data only). Tuning lifted R² from about 0.83 (defaults) to 0.86.</a:t>
            </a:r>
            <a:endParaRPr lang="en-US" sz="1200" dirty="0"/>
          </a:p>
        </p:txBody>
      </p:sp>
      <p:sp>
        <p:nvSpPr>
          <p:cNvPr id="5" name="why-card"/>
          <p:cNvSpPr/>
          <p:nvPr/>
        </p:nvSpPr>
        <p:spPr>
          <a:xfrm>
            <a:off x="8275320" y="1280160"/>
            <a:ext cx="3383280" cy="4754880"/>
          </a:xfrm>
          <a:prstGeom prst="roundRect">
            <a:avLst>
              <a:gd name="adj" fmla="val 3243"/>
            </a:avLst>
          </a:prstGeom>
          <a:solidFill>
            <a:schemeClr val="accent6"/>
          </a:solidFill>
          <a:ln w="12700">
            <a:solidFill>
              <a:schemeClr val="accent6"/>
            </a:solidFill>
            <a:prstDash val="solid"/>
          </a:ln>
        </p:spPr>
      </p:sp>
      <p:sp>
        <p:nvSpPr>
          <p:cNvPr id="6" name="Text 3"/>
          <p:cNvSpPr txBox="1"/>
          <p:nvPr/>
        </p:nvSpPr>
        <p:spPr>
          <a:xfrm>
            <a:off x="8503920" y="1417320"/>
            <a:ext cx="3017520" cy="411480"/>
          </a:xfrm>
          <a:prstGeom prst="rect">
            <a:avLst/>
          </a:prstGeom>
          <a:noFill/>
          <a:ln/>
        </p:spPr>
        <p:txBody>
          <a:bodyPr wrap="square" lIns="0" tIns="0" rIns="0" bIns="0" rtlCol="0" anchor="ctr"/>
          <a:lstStyle/>
          <a:p>
            <a:pPr indent="0" marL="0">
              <a:buNone/>
            </a:pPr>
            <a:r>
              <a:rPr lang="en-US" sz="1800" b="1" dirty="0">
                <a:solidFill>
                  <a:schemeClr val="accent2"/>
                </a:solidFill>
                <a:latin typeface="Cambria" pitchFamily="34" charset="0"/>
                <a:ea typeface="Cambria" pitchFamily="34" charset="-122"/>
                <a:cs typeface="Cambria" pitchFamily="34" charset="-120"/>
              </a:rPr>
              <a:t>★ New algorithm: NGBoost</a:t>
            </a:r>
            <a:endParaRPr lang="en-US" sz="1800" dirty="0"/>
          </a:p>
        </p:txBody>
      </p:sp>
      <p:sp>
        <p:nvSpPr>
          <p:cNvPr id="7" name="Text 4"/>
          <p:cNvSpPr txBox="1"/>
          <p:nvPr/>
        </p:nvSpPr>
        <p:spPr>
          <a:xfrm>
            <a:off x="8503920" y="1874520"/>
            <a:ext cx="30175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Not taught in lectures</a:t>
            </a:r>
            <a:endParaRPr lang="en-US" sz="1400" dirty="0"/>
          </a:p>
          <a:p>
            <a:pPr marL="342900" indent="-342900">
              <a:spcAft>
                <a:spcPts val="600"/>
              </a:spcAft>
              <a:buSzPct val="100000"/>
              <a:buChar char="•"/>
            </a:pPr>
            <a:r>
              <a:rPr lang="en-US" sz="1400" dirty="0">
                <a:solidFill>
                  <a:schemeClr val="tx1"/>
                </a:solidFill>
              </a:rPr>
              <a:t>Predicts a price distribution, not one number, giving an 80% price range</a:t>
            </a:r>
            <a:endParaRPr lang="en-US" sz="1400" dirty="0"/>
          </a:p>
          <a:p>
            <a:pPr marL="342900" indent="-342900">
              <a:spcAft>
                <a:spcPts val="600"/>
              </a:spcAft>
              <a:buSzPct val="100000"/>
              <a:buChar char="•"/>
            </a:pPr>
            <a:r>
              <a:rPr lang="en-US" sz="1400" dirty="0">
                <a:solidFill>
                  <a:schemeClr val="tx1"/>
                </a:solidFill>
              </a:rPr>
              <a:t>3rd best on CV; ranges hold 82% of actual prices</a:t>
            </a:r>
            <a:endParaRPr lang="en-US" sz="1400" dirty="0"/>
          </a:p>
        </p:txBody>
      </p:sp>
      <p:sp>
        <p:nvSpPr>
          <p:cNvPr id="8" name="Text 5"/>
          <p:cNvSpPr txBox="1"/>
          <p:nvPr/>
        </p:nvSpPr>
        <p:spPr>
          <a:xfrm>
            <a:off x="8503920" y="3840480"/>
            <a:ext cx="30175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Final model: stacking</a:t>
            </a:r>
            <a:endParaRPr lang="en-US" sz="1800" dirty="0"/>
          </a:p>
        </p:txBody>
      </p:sp>
      <p:sp>
        <p:nvSpPr>
          <p:cNvPr id="9" name="Text 6"/>
          <p:cNvSpPr txBox="1"/>
          <p:nvPr/>
        </p:nvSpPr>
        <p:spPr>
          <a:xfrm>
            <a:off x="8503920" y="4297680"/>
            <a:ext cx="301752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Lowest cross-validated error (0.4265); chosen on CV, not the test set</a:t>
            </a:r>
            <a:endParaRPr lang="en-US" sz="1400" dirty="0"/>
          </a:p>
          <a:p>
            <a:pPr marL="342900" indent="-342900">
              <a:spcAft>
                <a:spcPts val="600"/>
              </a:spcAft>
              <a:buSzPct val="100000"/>
              <a:buChar char="•"/>
            </a:pPr>
            <a:r>
              <a:rPr lang="en-US" sz="1400" dirty="0">
                <a:solidFill>
                  <a:schemeClr val="tx1"/>
                </a:solidFill>
              </a:rPr>
              <a:t>App: stacking price + NGBoost range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Key finding: location explains almost everything</a:t>
            </a:r>
            <a:endParaRPr lang="en-US" sz="3200" dirty="0"/>
          </a:p>
        </p:txBody>
      </p:sp>
      <p:sp>
        <p:nvSpPr>
          <p:cNvPr id="3" name="finding-card"/>
          <p:cNvSpPr/>
          <p:nvPr/>
        </p:nvSpPr>
        <p:spPr>
          <a:xfrm>
            <a:off x="548640" y="1325880"/>
            <a:ext cx="4206240" cy="4754880"/>
          </a:xfrm>
          <a:prstGeom prst="roundRect">
            <a:avLst>
              <a:gd name="adj" fmla="val 2609"/>
            </a:avLst>
          </a:prstGeom>
          <a:solidFill>
            <a:schemeClr val="accent6"/>
          </a:solidFill>
          <a:ln w="12700">
            <a:solidFill>
              <a:schemeClr val="accent6"/>
            </a:solidFill>
            <a:prstDash val="solid"/>
          </a:ln>
        </p:spPr>
      </p:sp>
      <p:sp>
        <p:nvSpPr>
          <p:cNvPr id="4" name="Text 2"/>
          <p:cNvSpPr txBox="1"/>
          <p:nvPr/>
        </p:nvSpPr>
        <p:spPr>
          <a:xfrm>
            <a:off x="822960" y="1554480"/>
            <a:ext cx="365760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81%</a:t>
            </a:r>
            <a:endParaRPr lang="en-US" sz="6000" dirty="0"/>
          </a:p>
        </p:txBody>
      </p:sp>
      <p:sp>
        <p:nvSpPr>
          <p:cNvPr id="5" name="Text 3"/>
          <p:cNvSpPr txBox="1"/>
          <p:nvPr/>
        </p:nvSpPr>
        <p:spPr>
          <a:xfrm>
            <a:off x="822960" y="2514600"/>
            <a:ext cx="3657600" cy="457200"/>
          </a:xfrm>
          <a:prstGeom prst="rect">
            <a:avLst/>
          </a:prstGeom>
          <a:noFill/>
          <a:ln/>
        </p:spPr>
        <p:txBody>
          <a:bodyPr wrap="square" lIns="0" tIns="0" rIns="0" bIns="0" rtlCol="0" anchor="ctr"/>
          <a:lstStyle/>
          <a:p>
            <a:pPr indent="0" marL="0">
              <a:buNone/>
            </a:pPr>
            <a:r>
              <a:rPr lang="en-US" sz="1600" dirty="0">
                <a:solidFill>
                  <a:schemeClr val="tx1"/>
                </a:solidFill>
              </a:rPr>
              <a:t>of price variation is between areas</a:t>
            </a:r>
            <a:endParaRPr lang="en-US" sz="1600" dirty="0"/>
          </a:p>
        </p:txBody>
      </p:sp>
      <p:sp>
        <p:nvSpPr>
          <p:cNvPr id="6" name="Text 4"/>
          <p:cNvSpPr txBox="1"/>
          <p:nvPr/>
        </p:nvSpPr>
        <p:spPr>
          <a:xfrm>
            <a:off x="822960" y="3154680"/>
            <a:ext cx="374904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All 27 location features have one value per area: they were calculated from the area name, not the plot.</a:t>
            </a:r>
            <a:endParaRPr lang="en-US" sz="1500" dirty="0"/>
          </a:p>
          <a:p>
            <a:pPr marL="342900" indent="-342900">
              <a:spcAft>
                <a:spcPts val="800"/>
              </a:spcAft>
              <a:buSzPct val="100000"/>
              <a:buChar char="•"/>
            </a:pPr>
            <a:r>
              <a:rPr lang="en-US" sz="1500" dirty="0">
                <a:solidFill>
                  <a:schemeClr val="tx1"/>
                </a:solidFill>
              </a:rPr>
              <a:t>On areas never seen in training, tree models clearly beat the linear model.</a:t>
            </a:r>
            <a:endParaRPr lang="en-US" sz="1500" dirty="0"/>
          </a:p>
          <a:p>
            <a:pPr marL="342900" indent="-342900">
              <a:buSzPct val="100000"/>
              <a:buChar char="•"/>
            </a:pPr>
            <a:r>
              <a:rPr lang="en-US" sz="1500" dirty="0">
                <a:solidFill>
                  <a:schemeClr val="tx1"/>
                </a:solidFill>
              </a:rPr>
              <a:t>So the app only offers areas the model knows.</a:t>
            </a:r>
            <a:endParaRPr lang="en-US" sz="1500" dirty="0"/>
          </a:p>
        </p:txBody>
      </p:sp>
      <p:graphicFrame>
        <p:nvGraphicFramePr>
          <p:cNvPr id="7" name="Chart 0" descr=""/>
          <p:cNvGraphicFramePr/>
          <p:nvPr/>
        </p:nvGraphicFramePr>
        <p:xfrm>
          <a:off x="5120640" y="128016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Explainability: SHAP and LIME agree</a:t>
            </a:r>
            <a:endParaRPr lang="en-US" sz="3200" dirty="0"/>
          </a:p>
        </p:txBody>
      </p:sp>
      <p:graphicFrame>
        <p:nvGraphicFramePr>
          <p:cNvPr id="3" name="Chart 0" descr=""/>
          <p:cNvGraphicFramePr/>
          <p:nvPr/>
        </p:nvGraphicFramePr>
        <p:xfrm>
          <a:off x="548640" y="1280160"/>
          <a:ext cx="4206240" cy="3840480"/>
        </p:xfrm>
        <a:graphic xmlns:a="http://schemas.openxmlformats.org/drawingml/2006/main">
          <a:graphicData uri="http://schemas.openxmlformats.org/drawingml/2006/chart">
            <c:chart xmlns:c="http://schemas.openxmlformats.org/drawingml/2006/chart" r:id="rId1"/>
          </a:graphicData>
        </a:graphic>
      </p:graphicFrame>
      <p:pic>
        <p:nvPicPr>
          <p:cNvPr id="4" name="Image 0" descr="SHAP waterfall for the held-out Dampe listing">    </p:cNvPr>
          <p:cNvPicPr>
            <a:picLocks noChangeAspect="1"/>
          </p:cNvPicPr>
          <p:nvPr/>
        </p:nvPicPr>
        <p:blipFill>
          <a:blip r:embed="rId2"/>
          <a:stretch>
            <a:fillRect/>
          </a:stretch>
        </p:blipFill>
        <p:spPr>
          <a:xfrm>
            <a:off x="5486400" y="1280160"/>
            <a:ext cx="5943600" cy="3889791"/>
          </a:xfrm>
          <a:prstGeom prst="rect">
            <a:avLst/>
          </a:prstGeom>
        </p:spPr>
      </p:pic>
      <p:sp>
        <p:nvSpPr>
          <p:cNvPr id="5" name="lime-card"/>
          <p:cNvSpPr/>
          <p:nvPr/>
        </p:nvSpPr>
        <p:spPr>
          <a:xfrm>
            <a:off x="548640" y="5440680"/>
            <a:ext cx="11109960" cy="731520"/>
          </a:xfrm>
          <a:prstGeom prst="roundRect">
            <a:avLst>
              <a:gd name="adj" fmla="val 15000"/>
            </a:avLst>
          </a:prstGeom>
          <a:solidFill>
            <a:schemeClr val="bg2"/>
          </a:solidFill>
          <a:ln w="12700">
            <a:solidFill>
              <a:schemeClr val="bg2"/>
            </a:solidFill>
            <a:prstDash val="solid"/>
          </a:ln>
        </p:spPr>
      </p:sp>
      <p:sp>
        <p:nvSpPr>
          <p:cNvPr id="6" name="Text 2"/>
          <p:cNvSpPr txBox="1"/>
          <p:nvPr/>
        </p:nvSpPr>
        <p:spPr>
          <a:xfrm>
            <a:off x="777240" y="5468112"/>
            <a:ext cx="10698480" cy="676656"/>
          </a:xfrm>
          <a:prstGeom prst="rect">
            <a:avLst/>
          </a:prstGeom>
          <a:noFill/>
          <a:ln/>
        </p:spPr>
        <p:txBody>
          <a:bodyPr wrap="square" lIns="0" tIns="0" rIns="0" bIns="0" rtlCol="0" anchor="ctr"/>
          <a:lstStyle/>
          <a:p>
            <a:pPr indent="0" marL="0">
              <a:buNone/>
            </a:pPr>
            <a:r>
              <a:rPr lang="en-US" sz="1500" b="1" dirty="0">
                <a:solidFill>
                  <a:schemeClr val="tx1"/>
                </a:solidFill>
              </a:rPr>
              <a:t>Held-out Dampe plot: </a:t>
            </a:r>
            <a:pPr indent="0" marL="0">
              <a:buNone/>
            </a:pPr>
            <a:r>
              <a:rPr lang="en-US" sz="1500" dirty="0">
                <a:solidFill>
                  <a:schemeClr val="tx1"/>
                </a:solidFill>
              </a:rPr>
              <a:t>28 km from Fort, a low-priced area and far from a grade-A school pull the price down.  </a:t>
            </a:r>
            <a:pPr indent="0" marL="0">
              <a:buNone/>
            </a:pPr>
            <a:r>
              <a:rPr lang="en-US" sz="1500" b="1" dirty="0">
                <a:solidFill>
                  <a:schemeClr val="accent2"/>
                </a:solidFill>
              </a:rPr>
              <a:t>LIME agrees on the same top 3 drivers.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Live demo: the deployed app</a:t>
            </a:r>
            <a:endParaRPr lang="en-US" sz="3200" dirty="0"/>
          </a:p>
        </p:txBody>
      </p:sp>
      <p:pic>
        <p:nvPicPr>
          <p:cNvPr id="3" name="Image 0" descr="Screenshot of the live Colombo Land Price Estimator app">    </p:cNvPr>
          <p:cNvPicPr>
            <a:picLocks noChangeAspect="1"/>
          </p:cNvPicPr>
          <p:nvPr/>
        </p:nvPicPr>
        <p:blipFill>
          <a:blip r:embed="rId1"/>
          <a:stretch>
            <a:fillRect/>
          </a:stretch>
        </p:blipFill>
        <p:spPr>
          <a:xfrm>
            <a:off x="548640" y="1280160"/>
            <a:ext cx="6583680" cy="3296785"/>
          </a:xfrm>
          <a:prstGeom prst="rect">
            <a:avLst/>
          </a:prstGeom>
        </p:spPr>
      </p:pic>
      <p:sp>
        <p:nvSpPr>
          <p:cNvPr id="4" name="Text 1"/>
          <p:cNvSpPr txBox="1"/>
          <p:nvPr/>
        </p:nvSpPr>
        <p:spPr>
          <a:xfrm>
            <a:off x="548640" y="4622665"/>
            <a:ext cx="6583680" cy="274320"/>
          </a:xfrm>
          <a:prstGeom prst="rect">
            <a:avLst/>
          </a:prstGeom>
          <a:noFill/>
          <a:ln/>
        </p:spPr>
        <p:txBody>
          <a:bodyPr wrap="square" lIns="0" tIns="0" rIns="0" bIns="0" rtlCol="0" anchor="ctr"/>
          <a:lstStyle/>
          <a:p>
            <a:pPr indent="0" marL="0">
              <a:buNone/>
            </a:pPr>
            <a:r>
              <a:rPr lang="en-US" sz="1100" dirty="0">
                <a:solidFill>
                  <a:schemeClr val="accent4"/>
                </a:solidFill>
              </a:rPr>
              <a:t>Backup screenshot if the internet is unavailable</a:t>
            </a:r>
            <a:endParaRPr lang="en-US" sz="1100" dirty="0"/>
          </a:p>
        </p:txBody>
      </p:sp>
      <p:pic>
        <p:nvPicPr>
          <p:cNvPr id="5" name="Image 1" descr="QR code linking to the live app">    </p:cNvPr>
          <p:cNvPicPr>
            <a:picLocks noChangeAspect="1"/>
          </p:cNvPicPr>
          <p:nvPr/>
        </p:nvPicPr>
        <p:blipFill>
          <a:blip r:embed="rId2"/>
          <a:stretch>
            <a:fillRect/>
          </a:stretch>
        </p:blipFill>
        <p:spPr>
          <a:xfrm>
            <a:off x="7818120" y="1280160"/>
            <a:ext cx="1508760" cy="1508760"/>
          </a:xfrm>
          <a:prstGeom prst="rect">
            <a:avLst/>
          </a:prstGeom>
        </p:spPr>
      </p:pic>
      <p:sp>
        <p:nvSpPr>
          <p:cNvPr id="6" name="Text 2"/>
          <p:cNvSpPr txBox="1"/>
          <p:nvPr/>
        </p:nvSpPr>
        <p:spPr>
          <a:xfrm>
            <a:off x="9464040" y="1325880"/>
            <a:ext cx="2240280" cy="1417320"/>
          </a:xfrm>
          <a:prstGeom prst="rect">
            <a:avLst/>
          </a:prstGeom>
          <a:noFill/>
          <a:ln/>
        </p:spPr>
        <p:txBody>
          <a:bodyPr wrap="square" lIns="0" tIns="0" rIns="0" bIns="0" rtlCol="0" anchor="ctr"/>
          <a:lstStyle/>
          <a:p>
            <a:pPr indent="0" marL="0">
              <a:buNone/>
            </a:pPr>
            <a:r>
              <a:rPr lang="en-US" sz="1400" b="1" dirty="0">
                <a:solidFill>
                  <a:schemeClr val="tx1"/>
                </a:solidFill>
              </a:rPr>
              <a:t>Try it: </a:t>
            </a:r>
            <a:endParaRPr lang="en-US" sz="1400" dirty="0"/>
          </a:p>
          <a:p>
            <a:pPr indent="0" marL="0">
              <a:buNone/>
            </a:pPr>
            <a:r>
              <a:rPr lang="en-US" sz="1400" dirty="0">
                <a:solidFill>
                  <a:schemeClr val="accent4"/>
                </a:solidFill>
              </a:rPr>
              <a:t>scan the QR code or open the link below</a:t>
            </a:r>
            <a:endParaRPr lang="en-US" sz="1400" dirty="0"/>
          </a:p>
        </p:txBody>
      </p:sp>
      <p:sp>
        <p:nvSpPr>
          <p:cNvPr id="7" name="Text 3"/>
          <p:cNvSpPr txBox="1"/>
          <p:nvPr/>
        </p:nvSpPr>
        <p:spPr>
          <a:xfrm>
            <a:off x="7818120" y="2880360"/>
            <a:ext cx="3840480" cy="320040"/>
          </a:xfrm>
          <a:prstGeom prst="rect">
            <a:avLst/>
          </a:prstGeom>
          <a:noFill/>
          <a:ln/>
        </p:spPr>
        <p:txBody>
          <a:bodyPr wrap="square" lIns="0" tIns="0" rIns="0" bIns="0" rtlCol="0" anchor="ctr"/>
          <a:lstStyle/>
          <a:p>
            <a:pPr indent="0" marL="0">
              <a:buNone/>
            </a:pPr>
            <a:r>
              <a:rPr lang="en-US" sz="1300" u="sng" dirty="0">
                <a:solidFill>
                  <a:schemeClr val="tx2"/>
                </a:solidFill>
                <a:hlinkClick r:id="rId3" invalidUrl="" action="" tgtFrame="" tooltip="https://colombo-land-price-ml-5jekcfuzve5ezgfgjjpqoh.streamlit.app" history="1" highlightClick="0" endSnd="0">
                  <a:extLst>
                    <a:ext uri="{A12FA001-AC4F-418D-AE19-62706E023703}">
                      <ahyp:hlinkClr xmlns:ahyp="http://schemas.microsoft.com/office/drawing/2018/hyperlinkcolor" val="tx"/>
                    </a:ext>
                  </a:extLst>
                </a:hlinkClick>
              </a:rPr>
              <a:t>colombo-land-price-ml-…streamlit.app</a:t>
            </a:r>
            <a:endParaRPr lang="en-US" sz="1300" dirty="0"/>
          </a:p>
        </p:txBody>
      </p:sp>
      <p:sp>
        <p:nvSpPr>
          <p:cNvPr id="8" name="Text 4"/>
          <p:cNvSpPr txBox="1"/>
          <p:nvPr/>
        </p:nvSpPr>
        <p:spPr>
          <a:xfrm>
            <a:off x="7818120" y="3383280"/>
            <a:ext cx="38862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Battaramulla:  ≈ Rs 2.58M per perch · High</a:t>
            </a:r>
            <a:endParaRPr lang="en-US" sz="1400" dirty="0"/>
          </a:p>
          <a:p>
            <a:pPr marL="342900" indent="-342900">
              <a:spcAft>
                <a:spcPts val="600"/>
              </a:spcAft>
              <a:buSzPct val="100000"/>
              <a:buChar char="•"/>
            </a:pPr>
            <a:r>
              <a:rPr lang="en-US" sz="1400" dirty="0">
                <a:solidFill>
                  <a:schemeClr val="tx1"/>
                </a:solidFill>
              </a:rPr>
              <a:t>Kaduwela:  ≈ Rs 460k per perch · Low</a:t>
            </a:r>
            <a:endParaRPr lang="en-US" sz="1400" dirty="0"/>
          </a:p>
          <a:p>
            <a:pPr marL="342900" indent="-342900">
              <a:buSzPct val="100000"/>
              <a:buChar char="•"/>
            </a:pPr>
            <a:r>
              <a:rPr lang="en-US" sz="1400" b="1" dirty="0">
                <a:solidFill>
                  <a:schemeClr val="accent2"/>
                </a:solidFill>
              </a:rPr>
              <a:t>Every price has a likely range (NGBoost) and an explanation (SHAP)</a:t>
            </a:r>
            <a:endParaRPr lang="en-US" sz="1400" dirty="0"/>
          </a:p>
        </p:txBody>
      </p:sp>
      <p:sp>
        <p:nvSpPr>
          <p:cNvPr id="9" name="mlops-0"/>
          <p:cNvSpPr/>
          <p:nvPr/>
        </p:nvSpPr>
        <p:spPr>
          <a:xfrm>
            <a:off x="548640" y="5440680"/>
            <a:ext cx="2651760" cy="640080"/>
          </a:xfrm>
          <a:prstGeom prst="roundRect">
            <a:avLst>
              <a:gd name="adj" fmla="val 17143"/>
            </a:avLst>
          </a:prstGeom>
          <a:solidFill>
            <a:schemeClr val="bg2"/>
          </a:solidFill>
          <a:ln w="12700">
            <a:solidFill>
              <a:schemeClr val="bg2"/>
            </a:solidFill>
            <a:prstDash val="solid"/>
          </a:ln>
        </p:spPr>
      </p:sp>
      <p:sp>
        <p:nvSpPr>
          <p:cNvPr id="10" name="Text 6"/>
          <p:cNvSpPr txBox="1"/>
          <p:nvPr/>
        </p:nvSpPr>
        <p:spPr>
          <a:xfrm>
            <a:off x="548640" y="5440680"/>
            <a:ext cx="2651760" cy="640080"/>
          </a:xfrm>
          <a:prstGeom prst="rect">
            <a:avLst/>
          </a:prstGeom>
          <a:noFill/>
          <a:ln/>
        </p:spPr>
        <p:txBody>
          <a:bodyPr wrap="square" lIns="0" tIns="0" rIns="0" bIns="0" rtlCol="0" anchor="ctr"/>
          <a:lstStyle/>
          <a:p>
            <a:pPr algn="ctr" indent="0" marL="0">
              <a:buNone/>
            </a:pPr>
            <a:r>
              <a:rPr lang="en-US" sz="1500" b="1" dirty="0">
                <a:solidFill>
                  <a:schemeClr val="tx2"/>
                </a:solidFill>
              </a:rPr>
              <a:t>Private GitHub repo</a:t>
            </a:r>
            <a:endParaRPr lang="en-US" sz="1500" dirty="0"/>
          </a:p>
        </p:txBody>
      </p:sp>
      <p:sp>
        <p:nvSpPr>
          <p:cNvPr id="11" name="mlops-1"/>
          <p:cNvSpPr/>
          <p:nvPr/>
        </p:nvSpPr>
        <p:spPr>
          <a:xfrm>
            <a:off x="3364992" y="5440680"/>
            <a:ext cx="2651760" cy="640080"/>
          </a:xfrm>
          <a:prstGeom prst="roundRect">
            <a:avLst>
              <a:gd name="adj" fmla="val 17143"/>
            </a:avLst>
          </a:prstGeom>
          <a:solidFill>
            <a:schemeClr val="bg2"/>
          </a:solidFill>
          <a:ln w="12700">
            <a:solidFill>
              <a:schemeClr val="bg2"/>
            </a:solidFill>
            <a:prstDash val="solid"/>
          </a:ln>
        </p:spPr>
      </p:sp>
      <p:sp>
        <p:nvSpPr>
          <p:cNvPr id="12" name="Text 8"/>
          <p:cNvSpPr txBox="1"/>
          <p:nvPr/>
        </p:nvSpPr>
        <p:spPr>
          <a:xfrm>
            <a:off x="3364992" y="5440680"/>
            <a:ext cx="2651760" cy="640080"/>
          </a:xfrm>
          <a:prstGeom prst="rect">
            <a:avLst/>
          </a:prstGeom>
          <a:noFill/>
          <a:ln/>
        </p:spPr>
        <p:txBody>
          <a:bodyPr wrap="square" lIns="0" tIns="0" rIns="0" bIns="0" rtlCol="0" anchor="ctr"/>
          <a:lstStyle/>
          <a:p>
            <a:pPr algn="ctr" indent="0" marL="0">
              <a:buNone/>
            </a:pPr>
            <a:r>
              <a:rPr lang="en-US" sz="1500" b="1" dirty="0">
                <a:solidFill>
                  <a:schemeClr val="tx2"/>
                </a:solidFill>
              </a:rPr>
              <a:t>CI: 17 tests passing</a:t>
            </a:r>
            <a:endParaRPr lang="en-US" sz="1500" dirty="0"/>
          </a:p>
        </p:txBody>
      </p:sp>
      <p:sp>
        <p:nvSpPr>
          <p:cNvPr id="13" name="mlops-2"/>
          <p:cNvSpPr/>
          <p:nvPr/>
        </p:nvSpPr>
        <p:spPr>
          <a:xfrm>
            <a:off x="6181344" y="5440680"/>
            <a:ext cx="2651760" cy="640080"/>
          </a:xfrm>
          <a:prstGeom prst="roundRect">
            <a:avLst>
              <a:gd name="adj" fmla="val 17143"/>
            </a:avLst>
          </a:prstGeom>
          <a:solidFill>
            <a:schemeClr val="bg2"/>
          </a:solidFill>
          <a:ln w="12700">
            <a:solidFill>
              <a:schemeClr val="bg2"/>
            </a:solidFill>
            <a:prstDash val="solid"/>
          </a:ln>
        </p:spPr>
      </p:sp>
      <p:sp>
        <p:nvSpPr>
          <p:cNvPr id="14" name="Text 10"/>
          <p:cNvSpPr txBox="1"/>
          <p:nvPr/>
        </p:nvSpPr>
        <p:spPr>
          <a:xfrm>
            <a:off x="6181344" y="5440680"/>
            <a:ext cx="2651760" cy="640080"/>
          </a:xfrm>
          <a:prstGeom prst="rect">
            <a:avLst/>
          </a:prstGeom>
          <a:noFill/>
          <a:ln/>
        </p:spPr>
        <p:txBody>
          <a:bodyPr wrap="square" lIns="0" tIns="0" rIns="0" bIns="0" rtlCol="0" anchor="ctr"/>
          <a:lstStyle/>
          <a:p>
            <a:pPr algn="ctr" indent="0" marL="0">
              <a:buNone/>
            </a:pPr>
            <a:r>
              <a:rPr lang="en-US" sz="1500" b="1" dirty="0">
                <a:solidFill>
                  <a:schemeClr val="tx2"/>
                </a:solidFill>
              </a:rPr>
              <a:t>Retraining + quality gate</a:t>
            </a:r>
            <a:endParaRPr lang="en-US" sz="1500" dirty="0"/>
          </a:p>
        </p:txBody>
      </p:sp>
      <p:sp>
        <p:nvSpPr>
          <p:cNvPr id="15" name="mlops-3"/>
          <p:cNvSpPr/>
          <p:nvPr/>
        </p:nvSpPr>
        <p:spPr>
          <a:xfrm>
            <a:off x="8997696" y="5440680"/>
            <a:ext cx="2651760" cy="640080"/>
          </a:xfrm>
          <a:prstGeom prst="roundRect">
            <a:avLst>
              <a:gd name="adj" fmla="val 17143"/>
            </a:avLst>
          </a:prstGeom>
          <a:solidFill>
            <a:schemeClr val="bg2"/>
          </a:solidFill>
          <a:ln w="12700">
            <a:solidFill>
              <a:schemeClr val="bg2"/>
            </a:solidFill>
            <a:prstDash val="solid"/>
          </a:ln>
        </p:spPr>
      </p:sp>
      <p:sp>
        <p:nvSpPr>
          <p:cNvPr id="16" name="Text 12"/>
          <p:cNvSpPr txBox="1"/>
          <p:nvPr/>
        </p:nvSpPr>
        <p:spPr>
          <a:xfrm>
            <a:off x="8997696" y="5440680"/>
            <a:ext cx="2651760" cy="640080"/>
          </a:xfrm>
          <a:prstGeom prst="rect">
            <a:avLst/>
          </a:prstGeom>
          <a:noFill/>
          <a:ln/>
        </p:spPr>
        <p:txBody>
          <a:bodyPr wrap="square" lIns="0" tIns="0" rIns="0" bIns="0" rtlCol="0" anchor="ctr"/>
          <a:lstStyle/>
          <a:p>
            <a:pPr algn="ctr" indent="0" marL="0">
              <a:buNone/>
            </a:pPr>
            <a:r>
              <a:rPr lang="en-US" sz="1500" b="1" dirty="0">
                <a:solidFill>
                  <a:schemeClr val="tx2"/>
                </a:solidFill>
              </a:rPr>
              <a:t>Auto-deploy on push</a:t>
            </a:r>
            <a:endParaRPr lang="en-US" sz="1500" dirty="0"/>
          </a:p>
        </p:txBody>
      </p:sp>
      <p:sp>
        <p:nvSpPr>
          <p:cNvPr id="17" name="Text 13"/>
          <p:cNvSpPr txBox="1"/>
          <p:nvPr/>
        </p:nvSpPr>
        <p:spPr>
          <a:xfrm>
            <a:off x="548640" y="5074920"/>
            <a:ext cx="2743200" cy="320040"/>
          </a:xfrm>
          <a:prstGeom prst="rect">
            <a:avLst/>
          </a:prstGeom>
          <a:noFill/>
          <a:ln/>
        </p:spPr>
        <p:txBody>
          <a:bodyPr wrap="square" lIns="0" tIns="0" rIns="0" bIns="0" rtlCol="0" anchor="ctr"/>
          <a:lstStyle/>
          <a:p>
            <a:pPr indent="0" marL="0">
              <a:buNone/>
            </a:pPr>
            <a:r>
              <a:rPr lang="en-US" sz="1300" b="1" dirty="0">
                <a:solidFill>
                  <a:schemeClr val="accent4"/>
                </a:solidFill>
              </a:rPr>
              <a:t>MLOps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concl-0"/>
          <p:cNvSpPr/>
          <p:nvPr/>
        </p:nvSpPr>
        <p:spPr>
          <a:xfrm>
            <a:off x="731520" y="1691640"/>
            <a:ext cx="3383280" cy="2057400"/>
          </a:xfrm>
          <a:prstGeom prst="roundRect">
            <a:avLst>
              <a:gd name="adj" fmla="val 5333"/>
            </a:avLst>
          </a:prstGeom>
          <a:solidFill>
            <a:srgbClr val="FFFFFF">
              <a:alpha val="12000"/>
            </a:srgbClr>
          </a:solidFill>
          <a:ln w="12700">
            <a:solidFill>
              <a:schemeClr val="accent5"/>
            </a:solidFill>
            <a:prstDash val="solid"/>
          </a:ln>
        </p:spPr>
      </p:sp>
      <p:sp>
        <p:nvSpPr>
          <p:cNvPr id="4" name="Text 2"/>
          <p:cNvSpPr txBox="1"/>
          <p:nvPr/>
        </p:nvSpPr>
        <p:spPr>
          <a:xfrm>
            <a:off x="1005840" y="1920240"/>
            <a:ext cx="2834640" cy="457200"/>
          </a:xfrm>
          <a:prstGeom prst="rect">
            <a:avLst/>
          </a:prstGeom>
          <a:noFill/>
          <a:ln/>
        </p:spPr>
        <p:txBody>
          <a:bodyPr wrap="square" lIns="0" tIns="0" rIns="0" bIns="0" rtlCol="0" anchor="ctr"/>
          <a:lstStyle/>
          <a:p>
            <a:pPr indent="0" marL="0">
              <a:buNone/>
            </a:pPr>
            <a:r>
              <a:rPr lang="en-US" sz="2000" b="1" dirty="0">
                <a:solidFill>
                  <a:schemeClr val="bg1"/>
                </a:solidFill>
              </a:rPr>
              <a:t>What we learned</a:t>
            </a:r>
            <a:endParaRPr lang="en-US" sz="2000" dirty="0"/>
          </a:p>
        </p:txBody>
      </p:sp>
      <p:sp>
        <p:nvSpPr>
          <p:cNvPr id="5" name="Text 3"/>
          <p:cNvSpPr txBox="1"/>
          <p:nvPr/>
        </p:nvSpPr>
        <p:spPr>
          <a:xfrm>
            <a:off x="1005840" y="2468880"/>
            <a:ext cx="2834640" cy="1143000"/>
          </a:xfrm>
          <a:prstGeom prst="rect">
            <a:avLst/>
          </a:prstGeom>
          <a:noFill/>
          <a:ln/>
        </p:spPr>
        <p:txBody>
          <a:bodyPr wrap="square" lIns="0" tIns="0" rIns="0" bIns="0" rtlCol="0" anchor="t"/>
          <a:lstStyle/>
          <a:p>
            <a:pPr indent="0" marL="0">
              <a:buNone/>
            </a:pPr>
            <a:r>
              <a:rPr lang="en-US" sz="1600" dirty="0">
                <a:solidFill>
                  <a:schemeClr val="accent5"/>
                </a:solidFill>
              </a:rPr>
              <a:t>The data, not the algorithm, limits accuracy: all tuned models perform almost the same.</a:t>
            </a:r>
            <a:endParaRPr lang="en-US" sz="1600" dirty="0"/>
          </a:p>
        </p:txBody>
      </p:sp>
      <p:sp>
        <p:nvSpPr>
          <p:cNvPr id="6" name="concl-1"/>
          <p:cNvSpPr/>
          <p:nvPr/>
        </p:nvSpPr>
        <p:spPr>
          <a:xfrm>
            <a:off x="4389120" y="1691640"/>
            <a:ext cx="3383280" cy="2057400"/>
          </a:xfrm>
          <a:prstGeom prst="roundRect">
            <a:avLst>
              <a:gd name="adj" fmla="val 5333"/>
            </a:avLst>
          </a:prstGeom>
          <a:solidFill>
            <a:srgbClr val="FFFFFF">
              <a:alpha val="12000"/>
            </a:srgbClr>
          </a:solidFill>
          <a:ln w="12700">
            <a:solidFill>
              <a:schemeClr val="accent5"/>
            </a:solidFill>
            <a:prstDash val="solid"/>
          </a:ln>
        </p:spPr>
      </p:sp>
      <p:sp>
        <p:nvSpPr>
          <p:cNvPr id="7" name="Text 5"/>
          <p:cNvSpPr txBox="1"/>
          <p:nvPr/>
        </p:nvSpPr>
        <p:spPr>
          <a:xfrm>
            <a:off x="4663440" y="1920240"/>
            <a:ext cx="2834640" cy="457200"/>
          </a:xfrm>
          <a:prstGeom prst="rect">
            <a:avLst/>
          </a:prstGeom>
          <a:noFill/>
          <a:ln/>
        </p:spPr>
        <p:txBody>
          <a:bodyPr wrap="square" lIns="0" tIns="0" rIns="0" bIns="0" rtlCol="0" anchor="ctr"/>
          <a:lstStyle/>
          <a:p>
            <a:pPr indent="0" marL="0">
              <a:buNone/>
            </a:pPr>
            <a:r>
              <a:rPr lang="en-US" sz="2000" b="1" dirty="0">
                <a:solidFill>
                  <a:schemeClr val="bg1"/>
                </a:solidFill>
              </a:rPr>
              <a:t>Limitations</a:t>
            </a:r>
            <a:endParaRPr lang="en-US" sz="2000" dirty="0"/>
          </a:p>
        </p:txBody>
      </p:sp>
      <p:sp>
        <p:nvSpPr>
          <p:cNvPr id="8" name="Text 6"/>
          <p:cNvSpPr txBox="1"/>
          <p:nvPr/>
        </p:nvSpPr>
        <p:spPr>
          <a:xfrm>
            <a:off x="4663440" y="2468880"/>
            <a:ext cx="2834640" cy="1143000"/>
          </a:xfrm>
          <a:prstGeom prst="rect">
            <a:avLst/>
          </a:prstGeom>
          <a:noFill/>
          <a:ln/>
        </p:spPr>
        <p:txBody>
          <a:bodyPr wrap="square" lIns="0" tIns="0" rIns="0" bIns="0" rtlCol="0" anchor="t"/>
          <a:lstStyle/>
          <a:p>
            <a:pPr indent="0" marL="0">
              <a:buNone/>
            </a:pPr>
            <a:r>
              <a:rPr lang="en-US" sz="1600" dirty="0">
                <a:solidFill>
                  <a:schemeClr val="accent5"/>
                </a:solidFill>
              </a:rPr>
              <a:t>Asking prices, not sale prices; 2021 data; location recorded per area, not per plot.</a:t>
            </a:r>
            <a:endParaRPr lang="en-US" sz="1600" dirty="0"/>
          </a:p>
        </p:txBody>
      </p:sp>
      <p:sp>
        <p:nvSpPr>
          <p:cNvPr id="9" name="concl-2"/>
          <p:cNvSpPr/>
          <p:nvPr/>
        </p:nvSpPr>
        <p:spPr>
          <a:xfrm>
            <a:off x="8046720" y="1691640"/>
            <a:ext cx="3383280" cy="2057400"/>
          </a:xfrm>
          <a:prstGeom prst="roundRect">
            <a:avLst>
              <a:gd name="adj" fmla="val 5333"/>
            </a:avLst>
          </a:prstGeom>
          <a:solidFill>
            <a:srgbClr val="FFFFFF">
              <a:alpha val="12000"/>
            </a:srgbClr>
          </a:solidFill>
          <a:ln w="12700">
            <a:solidFill>
              <a:schemeClr val="accent5"/>
            </a:solidFill>
            <a:prstDash val="solid"/>
          </a:ln>
        </p:spPr>
      </p:sp>
      <p:sp>
        <p:nvSpPr>
          <p:cNvPr id="10" name="Text 8"/>
          <p:cNvSpPr txBox="1"/>
          <p:nvPr/>
        </p:nvSpPr>
        <p:spPr>
          <a:xfrm>
            <a:off x="8321040" y="1920240"/>
            <a:ext cx="2834640" cy="457200"/>
          </a:xfrm>
          <a:prstGeom prst="rect">
            <a:avLst/>
          </a:prstGeom>
          <a:noFill/>
          <a:ln/>
        </p:spPr>
        <p:txBody>
          <a:bodyPr wrap="square" lIns="0" tIns="0" rIns="0" bIns="0" rtlCol="0" anchor="ctr"/>
          <a:lstStyle/>
          <a:p>
            <a:pPr indent="0" marL="0">
              <a:buNone/>
            </a:pPr>
            <a:r>
              <a:rPr lang="en-US" sz="2000" b="1" dirty="0">
                <a:solidFill>
                  <a:schemeClr val="bg1"/>
                </a:solidFill>
              </a:rPr>
              <a:t>Next step</a:t>
            </a:r>
            <a:endParaRPr lang="en-US" sz="2000" dirty="0"/>
          </a:p>
        </p:txBody>
      </p:sp>
      <p:sp>
        <p:nvSpPr>
          <p:cNvPr id="11" name="Text 9"/>
          <p:cNvSpPr txBox="1"/>
          <p:nvPr/>
        </p:nvSpPr>
        <p:spPr>
          <a:xfrm>
            <a:off x="8321040" y="2468880"/>
            <a:ext cx="2834640" cy="1143000"/>
          </a:xfrm>
          <a:prstGeom prst="rect">
            <a:avLst/>
          </a:prstGeom>
          <a:noFill/>
          <a:ln/>
        </p:spPr>
        <p:txBody>
          <a:bodyPr wrap="square" lIns="0" tIns="0" rIns="0" bIns="0" rtlCol="0" anchor="t"/>
          <a:lstStyle/>
          <a:p>
            <a:pPr indent="0" marL="0">
              <a:buNone/>
            </a:pPr>
            <a:r>
              <a:rPr lang="en-US" sz="1600" dirty="0">
                <a:solidFill>
                  <a:schemeClr val="accent5"/>
                </a:solidFill>
              </a:rPr>
              <a:t>Per-plot location data and recent prices would improve the model more than any tuning.</a:t>
            </a:r>
            <a:endParaRPr lang="en-US" sz="1600" dirty="0"/>
          </a:p>
        </p:txBody>
      </p:sp>
      <p:sp>
        <p:nvSpPr>
          <p:cNvPr id="12" name="Text 10"/>
          <p:cNvSpPr txBox="1"/>
          <p:nvPr/>
        </p:nvSpPr>
        <p:spPr>
          <a:xfrm>
            <a:off x="731520" y="4343400"/>
            <a:ext cx="10698480" cy="73152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Thank you  ·  Questions?</a:t>
            </a:r>
            <a:endParaRPr lang="en-US" sz="3000" dirty="0"/>
          </a:p>
        </p:txBody>
      </p:sp>
      <p:sp>
        <p:nvSpPr>
          <p:cNvPr id="14" name="Text 0"/>
          <p:cNvSpPr/>
          <p:nvPr>
            <p:ph idx="100" type="title" hasCustomPrompt="1"/>
          </p:nvPr>
        </p:nvSpPr>
        <p:spPr>
          <a:xfrm>
            <a:off x="731520" y="1554480"/>
            <a:ext cx="10698480" cy="1463040"/>
          </a:xfrm>
          <a:prstGeom prst="rect">
            <a:avLst/>
          </a:prstGeom>
          <a:noFill/>
          <a:ln/>
        </p:spPr>
        <p:txBody>
          <a:bodyPr wrap="square" lIns="0" tIns="0" rIns="0" bIns="0" rtlCol="0" anchor="b"/>
          <a:lstStyle/>
          <a:p>
            <a:pPr algn="l" indent="0" marL="0">
              <a:buNone/>
            </a:pPr>
            <a:endParaRPr lang="en-US" sz="4400" dirty="0"/>
          </a:p>
        </p:txBody>
      </p:sp>
      <p:sp>
        <p:nvSpPr>
          <p:cNvPr id="15" name="Text 0"/>
          <p:cNvSpPr/>
          <p:nvPr>
            <p:ph idx="101" type="body" hasCustomPrompt="1"/>
          </p:nvPr>
        </p:nvSpPr>
        <p:spPr>
          <a:xfrm>
            <a:off x="731520" y="3154680"/>
            <a:ext cx="10058400" cy="1005840"/>
          </a:xfrm>
          <a:prstGeom prst="rect">
            <a:avLst/>
          </a:prstGeom>
          <a:noFill/>
          <a:ln/>
        </p:spPr>
        <p:txBody>
          <a:bodyPr wrap="square" lIns="0" tIns="0" rIns="0" bIns="0" rtlCol="0" anchor="t"/>
          <a:lstStyle/>
          <a:p>
            <a:pP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Appendix: full model comparison (test set, 855 listings)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291840"/>
                <a:gridCol w="1554480"/>
                <a:gridCol w="1554480"/>
                <a:gridCol w="1463040"/>
                <a:gridCol w="1737360"/>
                <a:gridCol w="1463040"/>
              </a:tblGrid>
              <a:tr h="411480">
                <a:tc>
                  <a:txBody>
                    <a:bodyPr/>
                    <a:lstStyle/>
                    <a:p>
                      <a:pPr indent="0" marL="0">
                        <a:buNone/>
                      </a:pPr>
                      <a:r>
                        <a:rPr lang="en-US" sz="1400" b="1" dirty="0">
                          <a:solidFill>
                            <a:srgbClr val="FFFFFF"/>
                          </a:solidFill>
                        </a:rPr>
                        <a:t>Model</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CV RMSE (log)</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Test RMSE (log)</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Test R² (log)</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MAE (Rs/perch)</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Median error</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r>
              <a:tr h="411480">
                <a:tc>
                  <a:txBody>
                    <a:bodyPr/>
                    <a:lstStyle/>
                    <a:p>
                      <a:pPr indent="0" marL="0">
                        <a:buNone/>
                      </a:pPr>
                      <a:r>
                        <a:rPr lang="en-US" sz="1400" dirty="0">
                          <a:solidFill>
                            <a:srgbClr val="1C2430"/>
                          </a:solidFill>
                        </a:rPr>
                        <a:t>Stacking (RF + XGB + Cat)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0.4265</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0.3677</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0.866</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554,620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11.8%</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LightGBM (tuned)</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0.4274</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0.3726</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0.862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567,464</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13.5%</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NGBoost (tuned) ★ new</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0.4278</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0.3714</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0.863</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572,292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13.1%</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XGBoost (tuned)</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0.4282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0.3729</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0.862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561,203</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12.2%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Random Forest (tuned)</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0.4289</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0.3742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0.861</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552,220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11.5%</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CatBoost (tuned)</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0.4311</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0.3677</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0.866</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565,099</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12.3%</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NGBoost (default)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0.4372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0.3921</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0.848</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596,068</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14.5%</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Random Forest (default)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0.4450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0.4092</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0.834</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537,807</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10.3%</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XGBoost (default)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0.4490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0.4138</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0.830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594,944</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11.0%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411480">
                <a:tc>
                  <a:txBody>
                    <a:bodyPr/>
                    <a:lstStyle/>
                    <a:p>
                      <a:pPr indent="0" marL="0">
                        <a:buNone/>
                      </a:pPr>
                      <a:r>
                        <a:rPr lang="en-US" sz="1400" dirty="0">
                          <a:solidFill>
                            <a:srgbClr val="1C2430"/>
                          </a:solidFill>
                        </a:rPr>
                        <a:t>Ridge (baseline)</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0.4509</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0.4063</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0.836</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594,270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16.5%</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Appendix: tuned hyperparameters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4846320"/>
                <a:gridCol w="4389120"/>
              </a:tblGrid>
              <a:tr h="713232">
                <a:tc>
                  <a:txBody>
                    <a:bodyPr/>
                    <a:lstStyle/>
                    <a:p>
                      <a:pPr indent="0" marL="0">
                        <a:buNone/>
                      </a:pPr>
                      <a:r>
                        <a:rPr lang="en-US" sz="1400" b="1" dirty="0">
                          <a:solidFill>
                            <a:srgbClr val="FFFFFF"/>
                          </a:solidFill>
                        </a:rPr>
                        <a:t>Model</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Selected values</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rPr>
                        <a:t>Why</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r>
              <a:tr h="713232">
                <a:tc>
                  <a:txBody>
                    <a:bodyPr/>
                    <a:lstStyle/>
                    <a:p>
                      <a:pPr indent="0" marL="0">
                        <a:buNone/>
                      </a:pPr>
                      <a:r>
                        <a:rPr lang="en-US" sz="1400" dirty="0">
                          <a:solidFill>
                            <a:srgbClr val="1C2430"/>
                          </a:solidFill>
                        </a:rPr>
                        <a:t>Random Forest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271 trees, max_depth 20, min_samples_leaf 3, max_features 0.3</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Limit memorising noisy asking prices; fewer features per split because of multicollinearity</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713232">
                <a:tc>
                  <a:txBody>
                    <a:bodyPr/>
                    <a:lstStyle/>
                    <a:p>
                      <a:pPr indent="0" marL="0">
                        <a:buNone/>
                      </a:pPr>
                      <a:r>
                        <a:rPr lang="en-US" sz="1400" dirty="0">
                          <a:solidFill>
                            <a:srgbClr val="1C2430"/>
                          </a:solidFill>
                        </a:rPr>
                        <a:t>XGBoost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1,066 trees, learning_rate 0.013, max_depth 5, subsample 0.79, colsample 0.78, reg_lambda 4.0</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Small steps, shallow trees, sampling and regularisation</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713232">
                <a:tc>
                  <a:txBody>
                    <a:bodyPr/>
                    <a:lstStyle/>
                    <a:p>
                      <a:pPr indent="0" marL="0">
                        <a:buNone/>
                      </a:pPr>
                      <a:r>
                        <a:rPr lang="en-US" sz="1400" dirty="0">
                          <a:solidFill>
                            <a:srgbClr val="1C2430"/>
                          </a:solidFill>
                        </a:rPr>
                        <a:t>LightGBM</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820 trees, learning_rate 0.013, num_leaves 15, min_child_samples 11</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Very small trees chosen</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713232">
                <a:tc>
                  <a:txBody>
                    <a:bodyPr/>
                    <a:lstStyle/>
                    <a:p>
                      <a:pPr indent="0" marL="0">
                        <a:buNone/>
                      </a:pPr>
                      <a:r>
                        <a:rPr lang="en-US" sz="1400" dirty="0">
                          <a:solidFill>
                            <a:srgbClr val="1C2430"/>
                          </a:solidFill>
                        </a:rPr>
                        <a:t>CatBoost</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800 iterations, depth 8, learning_rate 0.03, l2_leaf_reg 5</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Native handling of the 160-area category</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r h="713232">
                <a:tc>
                  <a:txBody>
                    <a:bodyPr/>
                    <a:lstStyle/>
                    <a:p>
                      <a:pPr indent="0" marL="0">
                        <a:buNone/>
                      </a:pPr>
                      <a:r>
                        <a:rPr lang="en-US" sz="1400" dirty="0">
                          <a:solidFill>
                            <a:srgbClr val="1C2430"/>
                          </a:solidFill>
                        </a:rPr>
                        <a:t>NGBoost ★</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489 iterations, learning_rate 0.0076, base trees depth 5, min 15 per leaf</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indent="0" marL="0">
                        <a:buNone/>
                      </a:pPr>
                      <a:r>
                        <a:rPr lang="en-US" sz="1400" dirty="0">
                          <a:solidFill>
                            <a:srgbClr val="1C2430"/>
                          </a:solidFill>
                        </a:rPr>
                        <a:t>Small steps; larger leaves stop the spread fitting single noisy listings</a:t>
                      </a:r>
                      <a:endParaRPr lang="en-US" sz="1400" dirty="0"/>
                    </a:p>
                  </a:txBody>
                  <a:tcPr marL="91440" marR="91440" marT="45720" marB="45720"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r>
            </a:tbl>
          </a:graphicData>
        </a:graphic>
      </p:graphicFrame>
      <p:sp>
        <p:nvSpPr>
          <p:cNvPr id="4" name="Text 1"/>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All tuned with RandomizedSearchCV and 5-fold cross-validation; tuning lowered CV RMSE from about 0.445 to 0.429.</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Colombo Land">
  <a:themeElements>
    <a:clrScheme name="Colombo Land">
      <a:dk1>
        <a:srgbClr val="1C2430"/>
      </a:dk1>
      <a:lt1>
        <a:srgbClr val="FFFFFF"/>
      </a:lt1>
      <a:dk2>
        <a:srgbClr val="1F4E79"/>
      </a:dk2>
      <a:lt2>
        <a:srgbClr val="EEF2F6"/>
      </a:lt2>
      <a:accent1>
        <a:srgbClr val="1F4E79"/>
      </a:accent1>
      <a:accent2>
        <a:srgbClr val="B45309"/>
      </a:accent2>
      <a:accent3>
        <a:srgbClr val="2A9D8F"/>
      </a:accent3>
      <a:accent4>
        <a:srgbClr val="6B7A8F"/>
      </a:accent4>
      <a:accent5>
        <a:srgbClr val="D9E3EE"/>
      </a:accent5>
      <a:accent6>
        <a:srgbClr val="FBEFE3"/>
      </a:accent6>
      <a:hlink>
        <a:srgbClr val="1F4E79"/>
      </a:hlink>
      <a:folHlink>
        <a:srgbClr val="6B7A8F"/>
      </a:folHlink>
    </a:clrScheme>
    <a:fontScheme name="Colombo Lan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Land Prices in the Colombo District</dc:title>
  <dc:subject>PptxGenJS Presentation</dc:subject>
  <dc:creator>Amal Ranawaka</dc:creator>
  <cp:lastModifiedBy>Amal Ranawaka</cp:lastModifiedBy>
  <cp:revision>1</cp:revision>
  <dcterms:created xsi:type="dcterms:W3CDTF">2026-10-29T09:38:57Z</dcterms:created>
  <dcterms:modified xsi:type="dcterms:W3CDTF">2026-10-29T09:38:57Z</dcterms:modified>
</cp:coreProperties>
</file>